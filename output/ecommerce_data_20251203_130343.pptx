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73152" cy="18288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371600"/>
            <a:ext cx="9144000" cy="1097280"/>
          </a:xfrm>
          <a:prstGeom prst="rect">
            <a:avLst/>
          </a:prstGeom>
          <a:noFill/>
        </p:spPr>
        <p:txBody>
          <a:bodyPr wrap="none">
            <a:spAutoFit/>
          </a:bodyPr>
          <a:lstStyle/>
          <a:p>
            <a:pPr>
              <a:defRPr sz="5200" b="1">
                <a:solidFill>
                  <a:srgbClr val="FFFFFF"/>
                </a:solidFill>
              </a:defRPr>
            </a:pPr>
            <a:r>
              <a:t>Ecommerce Data</a:t>
            </a:r>
          </a:p>
        </p:txBody>
      </p:sp>
      <p:sp>
        <p:nvSpPr>
          <p:cNvPr id="6" name="TextBox 5"/>
          <p:cNvSpPr txBox="1"/>
          <p:nvPr/>
        </p:nvSpPr>
        <p:spPr>
          <a:xfrm>
            <a:off x="1005840" y="2377440"/>
            <a:ext cx="9144000" cy="548640"/>
          </a:xfrm>
          <a:prstGeom prst="rect">
            <a:avLst/>
          </a:prstGeom>
          <a:noFill/>
        </p:spPr>
        <p:txBody>
          <a:bodyPr wrap="none">
            <a:spAutoFit/>
          </a:bodyPr>
          <a:lstStyle/>
          <a:p>
            <a:pPr>
              <a:defRPr sz="2400">
                <a:solidFill>
                  <a:srgbClr val="B4C8DC"/>
                </a:solidFill>
              </a:defRPr>
            </a:pPr>
            <a:r>
              <a:t>Performance Analytics Report</a:t>
            </a:r>
          </a:p>
        </p:txBody>
      </p:sp>
      <p:sp>
        <p:nvSpPr>
          <p:cNvPr id="7" name="TextBox 6"/>
          <p:cNvSpPr txBox="1"/>
          <p:nvPr/>
        </p:nvSpPr>
        <p:spPr>
          <a:xfrm>
            <a:off x="1005840" y="3017520"/>
            <a:ext cx="9144000" cy="365760"/>
          </a:xfrm>
          <a:prstGeom prst="rect">
            <a:avLst/>
          </a:prstGeom>
          <a:noFill/>
        </p:spPr>
        <p:txBody>
          <a:bodyPr wrap="none">
            <a:spAutoFit/>
          </a:bodyPr>
          <a:lstStyle/>
          <a:p>
            <a:pPr>
              <a:defRPr sz="1600">
                <a:solidFill>
                  <a:srgbClr val="8CA0B4"/>
                </a:solidFill>
              </a:defRPr>
            </a:pPr>
            <a:r>
              <a:t>2024-01-01  |  2024-01-12</a:t>
            </a:r>
          </a:p>
        </p:txBody>
      </p:sp>
      <p:sp>
        <p:nvSpPr>
          <p:cNvPr id="8" name="Rounded Rectangle 7"/>
          <p:cNvSpPr/>
          <p:nvPr/>
        </p:nvSpPr>
        <p:spPr>
          <a:xfrm>
            <a:off x="914400" y="4389120"/>
            <a:ext cx="3291840" cy="1645920"/>
          </a:xfrm>
          <a:prstGeom prst="roundRect">
            <a:avLst/>
          </a:prstGeom>
          <a:solidFill>
            <a:srgbClr val="1E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4389120"/>
            <a:ext cx="3291840" cy="54864"/>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663440"/>
            <a:ext cx="2926080" cy="365760"/>
          </a:xfrm>
          <a:prstGeom prst="rect">
            <a:avLst/>
          </a:prstGeom>
          <a:noFill/>
        </p:spPr>
        <p:txBody>
          <a:bodyPr wrap="none">
            <a:spAutoFit/>
          </a:bodyPr>
          <a:lstStyle/>
          <a:p>
            <a:pPr>
              <a:defRPr sz="1100" b="1">
                <a:solidFill>
                  <a:srgbClr val="96AABE"/>
                </a:solidFill>
              </a:defRPr>
            </a:pPr>
            <a:r>
              <a:t>TOTAL REVENUE</a:t>
            </a:r>
          </a:p>
        </p:txBody>
      </p:sp>
      <p:sp>
        <p:nvSpPr>
          <p:cNvPr id="11" name="TextBox 10"/>
          <p:cNvSpPr txBox="1"/>
          <p:nvPr/>
        </p:nvSpPr>
        <p:spPr>
          <a:xfrm>
            <a:off x="1097280" y="5120640"/>
            <a:ext cx="2926080" cy="731520"/>
          </a:xfrm>
          <a:prstGeom prst="rect">
            <a:avLst/>
          </a:prstGeom>
          <a:noFill/>
        </p:spPr>
        <p:txBody>
          <a:bodyPr wrap="none">
            <a:spAutoFit/>
          </a:bodyPr>
          <a:lstStyle/>
          <a:p>
            <a:pPr>
              <a:defRPr sz="3600" b="1">
                <a:solidFill>
                  <a:srgbClr val="FFFFFF"/>
                </a:solidFill>
              </a:defRPr>
            </a:pPr>
            <a:r>
              <a:t>$17,700</a:t>
            </a:r>
          </a:p>
        </p:txBody>
      </p:sp>
      <p:sp>
        <p:nvSpPr>
          <p:cNvPr id="12" name="Rounded Rectangle 11"/>
          <p:cNvSpPr/>
          <p:nvPr/>
        </p:nvSpPr>
        <p:spPr>
          <a:xfrm>
            <a:off x="4572000" y="4389120"/>
            <a:ext cx="3291840" cy="1645920"/>
          </a:xfrm>
          <a:prstGeom prst="roundRect">
            <a:avLst/>
          </a:prstGeom>
          <a:solidFill>
            <a:srgbClr val="1E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4389120"/>
            <a:ext cx="3291840" cy="548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4663440"/>
            <a:ext cx="2926080" cy="365760"/>
          </a:xfrm>
          <a:prstGeom prst="rect">
            <a:avLst/>
          </a:prstGeom>
          <a:noFill/>
        </p:spPr>
        <p:txBody>
          <a:bodyPr wrap="none">
            <a:spAutoFit/>
          </a:bodyPr>
          <a:lstStyle/>
          <a:p>
            <a:pPr>
              <a:defRPr sz="1100" b="1">
                <a:solidFill>
                  <a:srgbClr val="96AABE"/>
                </a:solidFill>
              </a:defRPr>
            </a:pPr>
            <a:r>
              <a:t>RETURN ON INVESTMENT</a:t>
            </a:r>
          </a:p>
        </p:txBody>
      </p:sp>
      <p:sp>
        <p:nvSpPr>
          <p:cNvPr id="15" name="TextBox 14"/>
          <p:cNvSpPr txBox="1"/>
          <p:nvPr/>
        </p:nvSpPr>
        <p:spPr>
          <a:xfrm>
            <a:off x="4754880" y="5120640"/>
            <a:ext cx="2926080" cy="731520"/>
          </a:xfrm>
          <a:prstGeom prst="rect">
            <a:avLst/>
          </a:prstGeom>
          <a:noFill/>
        </p:spPr>
        <p:txBody>
          <a:bodyPr wrap="none">
            <a:spAutoFit/>
          </a:bodyPr>
          <a:lstStyle/>
          <a:p>
            <a:pPr>
              <a:defRPr sz="3600" b="1">
                <a:solidFill>
                  <a:srgbClr val="FFFFFF"/>
                </a:solidFill>
              </a:defRPr>
            </a:pPr>
            <a:r>
              <a:t>204.6%</a:t>
            </a:r>
          </a:p>
        </p:txBody>
      </p:sp>
      <p:sp>
        <p:nvSpPr>
          <p:cNvPr id="16" name="Rounded Rectangle 15"/>
          <p:cNvSpPr/>
          <p:nvPr/>
        </p:nvSpPr>
        <p:spPr>
          <a:xfrm>
            <a:off x="8229600" y="4389120"/>
            <a:ext cx="3291840" cy="1645920"/>
          </a:xfrm>
          <a:prstGeom prst="roundRect">
            <a:avLst/>
          </a:prstGeom>
          <a:solidFill>
            <a:srgbClr val="1E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4389120"/>
            <a:ext cx="3291840" cy="548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4663440"/>
            <a:ext cx="2926080" cy="365760"/>
          </a:xfrm>
          <a:prstGeom prst="rect">
            <a:avLst/>
          </a:prstGeom>
          <a:noFill/>
        </p:spPr>
        <p:txBody>
          <a:bodyPr wrap="none">
            <a:spAutoFit/>
          </a:bodyPr>
          <a:lstStyle/>
          <a:p>
            <a:pPr>
              <a:defRPr sz="1100" b="1">
                <a:solidFill>
                  <a:srgbClr val="96AABE"/>
                </a:solidFill>
              </a:defRPr>
            </a:pPr>
            <a:r>
              <a:t>TOTAL IMPRESSIONS</a:t>
            </a:r>
          </a:p>
        </p:txBody>
      </p:sp>
      <p:sp>
        <p:nvSpPr>
          <p:cNvPr id="19" name="TextBox 18"/>
          <p:cNvSpPr txBox="1"/>
          <p:nvPr/>
        </p:nvSpPr>
        <p:spPr>
          <a:xfrm>
            <a:off x="8412480" y="5120640"/>
            <a:ext cx="2926080" cy="731520"/>
          </a:xfrm>
          <a:prstGeom prst="rect">
            <a:avLst/>
          </a:prstGeom>
          <a:noFill/>
        </p:spPr>
        <p:txBody>
          <a:bodyPr wrap="none">
            <a:spAutoFit/>
          </a:bodyPr>
          <a:lstStyle/>
          <a:p>
            <a:pPr>
              <a:defRPr sz="3600" b="1">
                <a:solidFill>
                  <a:srgbClr val="FFFFFF"/>
                </a:solidFill>
              </a:defRPr>
            </a:pPr>
            <a:r>
              <a:t>558,000</a:t>
            </a:r>
          </a:p>
        </p:txBody>
      </p:sp>
      <p:sp>
        <p:nvSpPr>
          <p:cNvPr id="20" name="TextBox 19"/>
          <p:cNvSpPr txBox="1"/>
          <p:nvPr/>
        </p:nvSpPr>
        <p:spPr>
          <a:xfrm>
            <a:off x="914400" y="6400800"/>
            <a:ext cx="10058400" cy="274320"/>
          </a:xfrm>
          <a:prstGeom prst="rect">
            <a:avLst/>
          </a:prstGeom>
          <a:noFill/>
        </p:spPr>
        <p:txBody>
          <a:bodyPr wrap="none">
            <a:spAutoFit/>
          </a:bodyPr>
          <a:lstStyle/>
          <a:p>
            <a:pPr>
              <a:defRPr sz="1000">
                <a:solidFill>
                  <a:srgbClr val="64788C"/>
                </a:solidFill>
              </a:defRPr>
            </a:pPr>
            <a:r>
              <a:t>Generated: December 03, 2025  |  Powered by TrendSpotter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Key Performance Indicators</a:t>
            </a:r>
          </a:p>
        </p:txBody>
      </p:sp>
      <p:sp>
        <p:nvSpPr>
          <p:cNvPr id="5" name="Rounded Rectangle 4"/>
          <p:cNvSpPr/>
          <p:nvPr/>
        </p:nvSpPr>
        <p:spPr>
          <a:xfrm>
            <a:off x="548640" y="146304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91440" cy="20116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3017520" cy="365760"/>
          </a:xfrm>
          <a:prstGeom prst="rect">
            <a:avLst/>
          </a:prstGeom>
          <a:noFill/>
        </p:spPr>
        <p:txBody>
          <a:bodyPr wrap="none">
            <a:spAutoFit/>
          </a:bodyPr>
          <a:lstStyle/>
          <a:p>
            <a:pPr>
              <a:defRPr sz="1200" b="1">
                <a:solidFill>
                  <a:srgbClr val="646973"/>
                </a:solidFill>
              </a:defRPr>
            </a:pPr>
            <a:r>
              <a:t>IMPRESSIONS</a:t>
            </a:r>
          </a:p>
        </p:txBody>
      </p:sp>
      <p:sp>
        <p:nvSpPr>
          <p:cNvPr id="8" name="TextBox 7"/>
          <p:cNvSpPr txBox="1"/>
          <p:nvPr/>
        </p:nvSpPr>
        <p:spPr>
          <a:xfrm>
            <a:off x="822960" y="2194560"/>
            <a:ext cx="3017520" cy="822960"/>
          </a:xfrm>
          <a:prstGeom prst="rect">
            <a:avLst/>
          </a:prstGeom>
          <a:noFill/>
        </p:spPr>
        <p:txBody>
          <a:bodyPr wrap="none">
            <a:spAutoFit/>
          </a:bodyPr>
          <a:lstStyle/>
          <a:p>
            <a:pPr>
              <a:defRPr sz="3800" b="1">
                <a:solidFill>
                  <a:srgbClr val="323741"/>
                </a:solidFill>
              </a:defRPr>
            </a:pPr>
            <a:r>
              <a:t>558,000</a:t>
            </a:r>
          </a:p>
        </p:txBody>
      </p:sp>
      <p:sp>
        <p:nvSpPr>
          <p:cNvPr id="9" name="TextBox 8"/>
          <p:cNvSpPr txBox="1"/>
          <p:nvPr/>
        </p:nvSpPr>
        <p:spPr>
          <a:xfrm>
            <a:off x="822960" y="3017520"/>
            <a:ext cx="3017520" cy="365760"/>
          </a:xfrm>
          <a:prstGeom prst="rect">
            <a:avLst/>
          </a:prstGeom>
          <a:noFill/>
        </p:spPr>
        <p:txBody>
          <a:bodyPr wrap="none">
            <a:spAutoFit/>
          </a:bodyPr>
          <a:lstStyle/>
          <a:p>
            <a:pPr>
              <a:defRPr sz="1100">
                <a:solidFill>
                  <a:srgbClr val="787D87"/>
                </a:solidFill>
              </a:defRPr>
            </a:pPr>
            <a:r>
              <a:t>Total ad views delivered</a:t>
            </a:r>
          </a:p>
        </p:txBody>
      </p:sp>
      <p:sp>
        <p:nvSpPr>
          <p:cNvPr id="10" name="Rounded Rectangle 9"/>
          <p:cNvSpPr/>
          <p:nvPr/>
        </p:nvSpPr>
        <p:spPr>
          <a:xfrm>
            <a:off x="4297679" y="146304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79" y="1463040"/>
            <a:ext cx="91440" cy="2011680"/>
          </a:xfrm>
          <a:prstGeom prst="rect">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1737360"/>
            <a:ext cx="3017520" cy="365760"/>
          </a:xfrm>
          <a:prstGeom prst="rect">
            <a:avLst/>
          </a:prstGeom>
          <a:noFill/>
        </p:spPr>
        <p:txBody>
          <a:bodyPr wrap="none">
            <a:spAutoFit/>
          </a:bodyPr>
          <a:lstStyle/>
          <a:p>
            <a:pPr>
              <a:defRPr sz="1200" b="1">
                <a:solidFill>
                  <a:srgbClr val="646973"/>
                </a:solidFill>
              </a:defRPr>
            </a:pPr>
            <a:r>
              <a:t>CLICKS</a:t>
            </a:r>
          </a:p>
        </p:txBody>
      </p:sp>
      <p:sp>
        <p:nvSpPr>
          <p:cNvPr id="13" name="TextBox 12"/>
          <p:cNvSpPr txBox="1"/>
          <p:nvPr/>
        </p:nvSpPr>
        <p:spPr>
          <a:xfrm>
            <a:off x="4571999" y="2194560"/>
            <a:ext cx="3017520" cy="822960"/>
          </a:xfrm>
          <a:prstGeom prst="rect">
            <a:avLst/>
          </a:prstGeom>
          <a:noFill/>
        </p:spPr>
        <p:txBody>
          <a:bodyPr wrap="none">
            <a:spAutoFit/>
          </a:bodyPr>
          <a:lstStyle/>
          <a:p>
            <a:pPr>
              <a:defRPr sz="3800" b="1">
                <a:solidFill>
                  <a:srgbClr val="323741"/>
                </a:solidFill>
              </a:defRPr>
            </a:pPr>
            <a:r>
              <a:t>15,300</a:t>
            </a:r>
          </a:p>
        </p:txBody>
      </p:sp>
      <p:sp>
        <p:nvSpPr>
          <p:cNvPr id="14" name="TextBox 13"/>
          <p:cNvSpPr txBox="1"/>
          <p:nvPr/>
        </p:nvSpPr>
        <p:spPr>
          <a:xfrm>
            <a:off x="4571999" y="3017520"/>
            <a:ext cx="3017520" cy="365760"/>
          </a:xfrm>
          <a:prstGeom prst="rect">
            <a:avLst/>
          </a:prstGeom>
          <a:noFill/>
        </p:spPr>
        <p:txBody>
          <a:bodyPr wrap="none">
            <a:spAutoFit/>
          </a:bodyPr>
          <a:lstStyle/>
          <a:p>
            <a:pPr>
              <a:defRPr sz="1100">
                <a:solidFill>
                  <a:srgbClr val="787D87"/>
                </a:solidFill>
              </a:defRPr>
            </a:pPr>
            <a:r>
              <a:t>Click-through rate: 2.74%</a:t>
            </a:r>
          </a:p>
        </p:txBody>
      </p:sp>
      <p:sp>
        <p:nvSpPr>
          <p:cNvPr id="15" name="Rounded Rectangle 14"/>
          <p:cNvSpPr/>
          <p:nvPr/>
        </p:nvSpPr>
        <p:spPr>
          <a:xfrm>
            <a:off x="8046719" y="146304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19" y="1463040"/>
            <a:ext cx="91440" cy="2011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39" y="1737360"/>
            <a:ext cx="3017520" cy="365760"/>
          </a:xfrm>
          <a:prstGeom prst="rect">
            <a:avLst/>
          </a:prstGeom>
          <a:noFill/>
        </p:spPr>
        <p:txBody>
          <a:bodyPr wrap="none">
            <a:spAutoFit/>
          </a:bodyPr>
          <a:lstStyle/>
          <a:p>
            <a:pPr>
              <a:defRPr sz="1200" b="1">
                <a:solidFill>
                  <a:srgbClr val="646973"/>
                </a:solidFill>
              </a:defRPr>
            </a:pPr>
            <a:r>
              <a:t>CONVERSIONS</a:t>
            </a:r>
          </a:p>
        </p:txBody>
      </p:sp>
      <p:sp>
        <p:nvSpPr>
          <p:cNvPr id="18" name="TextBox 17"/>
          <p:cNvSpPr txBox="1"/>
          <p:nvPr/>
        </p:nvSpPr>
        <p:spPr>
          <a:xfrm>
            <a:off x="8321039" y="2194560"/>
            <a:ext cx="3017520" cy="822960"/>
          </a:xfrm>
          <a:prstGeom prst="rect">
            <a:avLst/>
          </a:prstGeom>
          <a:noFill/>
        </p:spPr>
        <p:txBody>
          <a:bodyPr wrap="none">
            <a:spAutoFit/>
          </a:bodyPr>
          <a:lstStyle/>
          <a:p>
            <a:pPr>
              <a:defRPr sz="3800" b="1">
                <a:solidFill>
                  <a:srgbClr val="323741"/>
                </a:solidFill>
              </a:defRPr>
            </a:pPr>
            <a:r>
              <a:t>590</a:t>
            </a:r>
          </a:p>
        </p:txBody>
      </p:sp>
      <p:sp>
        <p:nvSpPr>
          <p:cNvPr id="19" name="TextBox 18"/>
          <p:cNvSpPr txBox="1"/>
          <p:nvPr/>
        </p:nvSpPr>
        <p:spPr>
          <a:xfrm>
            <a:off x="8321039" y="3017520"/>
            <a:ext cx="3017520" cy="365760"/>
          </a:xfrm>
          <a:prstGeom prst="rect">
            <a:avLst/>
          </a:prstGeom>
          <a:noFill/>
        </p:spPr>
        <p:txBody>
          <a:bodyPr wrap="none">
            <a:spAutoFit/>
          </a:bodyPr>
          <a:lstStyle/>
          <a:p>
            <a:pPr>
              <a:defRPr sz="1100">
                <a:solidFill>
                  <a:srgbClr val="787D87"/>
                </a:solidFill>
              </a:defRPr>
            </a:pPr>
            <a:r>
              <a:t>Completed actions</a:t>
            </a:r>
          </a:p>
        </p:txBody>
      </p:sp>
      <p:sp>
        <p:nvSpPr>
          <p:cNvPr id="20" name="Rounded Rectangle 19"/>
          <p:cNvSpPr/>
          <p:nvPr/>
        </p:nvSpPr>
        <p:spPr>
          <a:xfrm>
            <a:off x="548640" y="384048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840480"/>
            <a:ext cx="91440" cy="2011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114800"/>
            <a:ext cx="3017520" cy="365760"/>
          </a:xfrm>
          <a:prstGeom prst="rect">
            <a:avLst/>
          </a:prstGeom>
          <a:noFill/>
        </p:spPr>
        <p:txBody>
          <a:bodyPr wrap="none">
            <a:spAutoFit/>
          </a:bodyPr>
          <a:lstStyle/>
          <a:p>
            <a:pPr>
              <a:defRPr sz="1200" b="1">
                <a:solidFill>
                  <a:srgbClr val="646973"/>
                </a:solidFill>
              </a:defRPr>
            </a:pPr>
            <a:r>
              <a:t>REVENUE</a:t>
            </a:r>
          </a:p>
        </p:txBody>
      </p:sp>
      <p:sp>
        <p:nvSpPr>
          <p:cNvPr id="23" name="TextBox 22"/>
          <p:cNvSpPr txBox="1"/>
          <p:nvPr/>
        </p:nvSpPr>
        <p:spPr>
          <a:xfrm>
            <a:off x="822960" y="4572000"/>
            <a:ext cx="3017520" cy="822960"/>
          </a:xfrm>
          <a:prstGeom prst="rect">
            <a:avLst/>
          </a:prstGeom>
          <a:noFill/>
        </p:spPr>
        <p:txBody>
          <a:bodyPr wrap="none">
            <a:spAutoFit/>
          </a:bodyPr>
          <a:lstStyle/>
          <a:p>
            <a:pPr>
              <a:defRPr sz="3800" b="1">
                <a:solidFill>
                  <a:srgbClr val="323741"/>
                </a:solidFill>
              </a:defRPr>
            </a:pPr>
            <a:r>
              <a:t>$17,700</a:t>
            </a:r>
          </a:p>
        </p:txBody>
      </p:sp>
      <p:sp>
        <p:nvSpPr>
          <p:cNvPr id="24" name="TextBox 23"/>
          <p:cNvSpPr txBox="1"/>
          <p:nvPr/>
        </p:nvSpPr>
        <p:spPr>
          <a:xfrm>
            <a:off x="822960" y="5394960"/>
            <a:ext cx="3017520" cy="365760"/>
          </a:xfrm>
          <a:prstGeom prst="rect">
            <a:avLst/>
          </a:prstGeom>
          <a:noFill/>
        </p:spPr>
        <p:txBody>
          <a:bodyPr wrap="none">
            <a:spAutoFit/>
          </a:bodyPr>
          <a:lstStyle/>
          <a:p>
            <a:pPr>
              <a:defRPr sz="1100">
                <a:solidFill>
                  <a:srgbClr val="787D87"/>
                </a:solidFill>
              </a:defRPr>
            </a:pPr>
            <a:r>
              <a:t>Total earnings generated</a:t>
            </a:r>
          </a:p>
        </p:txBody>
      </p:sp>
      <p:sp>
        <p:nvSpPr>
          <p:cNvPr id="25" name="Rounded Rectangle 24"/>
          <p:cNvSpPr/>
          <p:nvPr/>
        </p:nvSpPr>
        <p:spPr>
          <a:xfrm>
            <a:off x="4297679" y="384048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79" y="3840480"/>
            <a:ext cx="91440" cy="20116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1999" y="4114800"/>
            <a:ext cx="3017520" cy="365760"/>
          </a:xfrm>
          <a:prstGeom prst="rect">
            <a:avLst/>
          </a:prstGeom>
          <a:noFill/>
        </p:spPr>
        <p:txBody>
          <a:bodyPr wrap="none">
            <a:spAutoFit/>
          </a:bodyPr>
          <a:lstStyle/>
          <a:p>
            <a:pPr>
              <a:defRPr sz="1200" b="1">
                <a:solidFill>
                  <a:srgbClr val="646973"/>
                </a:solidFill>
              </a:defRPr>
            </a:pPr>
            <a:r>
              <a:t>AD SPEND</a:t>
            </a:r>
          </a:p>
        </p:txBody>
      </p:sp>
      <p:sp>
        <p:nvSpPr>
          <p:cNvPr id="28" name="TextBox 27"/>
          <p:cNvSpPr txBox="1"/>
          <p:nvPr/>
        </p:nvSpPr>
        <p:spPr>
          <a:xfrm>
            <a:off x="4571999" y="4572000"/>
            <a:ext cx="3017520" cy="822960"/>
          </a:xfrm>
          <a:prstGeom prst="rect">
            <a:avLst/>
          </a:prstGeom>
          <a:noFill/>
        </p:spPr>
        <p:txBody>
          <a:bodyPr wrap="none">
            <a:spAutoFit/>
          </a:bodyPr>
          <a:lstStyle/>
          <a:p>
            <a:pPr>
              <a:defRPr sz="3800" b="1">
                <a:solidFill>
                  <a:srgbClr val="323741"/>
                </a:solidFill>
              </a:defRPr>
            </a:pPr>
            <a:r>
              <a:t>$5,810</a:t>
            </a:r>
          </a:p>
        </p:txBody>
      </p:sp>
      <p:sp>
        <p:nvSpPr>
          <p:cNvPr id="29" name="TextBox 28"/>
          <p:cNvSpPr txBox="1"/>
          <p:nvPr/>
        </p:nvSpPr>
        <p:spPr>
          <a:xfrm>
            <a:off x="4571999" y="5394960"/>
            <a:ext cx="3017520" cy="365760"/>
          </a:xfrm>
          <a:prstGeom prst="rect">
            <a:avLst/>
          </a:prstGeom>
          <a:noFill/>
        </p:spPr>
        <p:txBody>
          <a:bodyPr wrap="none">
            <a:spAutoFit/>
          </a:bodyPr>
          <a:lstStyle/>
          <a:p>
            <a:pPr>
              <a:defRPr sz="1100">
                <a:solidFill>
                  <a:srgbClr val="787D87"/>
                </a:solidFill>
              </a:defRPr>
            </a:pPr>
            <a:r>
              <a:t>Marketing investment</a:t>
            </a:r>
          </a:p>
        </p:txBody>
      </p:sp>
      <p:sp>
        <p:nvSpPr>
          <p:cNvPr id="30" name="Rounded Rectangle 29"/>
          <p:cNvSpPr/>
          <p:nvPr/>
        </p:nvSpPr>
        <p:spPr>
          <a:xfrm>
            <a:off x="8046719" y="384048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19" y="3840480"/>
            <a:ext cx="91440" cy="2011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39" y="4114800"/>
            <a:ext cx="3017520" cy="365760"/>
          </a:xfrm>
          <a:prstGeom prst="rect">
            <a:avLst/>
          </a:prstGeom>
          <a:noFill/>
        </p:spPr>
        <p:txBody>
          <a:bodyPr wrap="none">
            <a:spAutoFit/>
          </a:bodyPr>
          <a:lstStyle/>
          <a:p>
            <a:pPr>
              <a:defRPr sz="1200" b="1">
                <a:solidFill>
                  <a:srgbClr val="646973"/>
                </a:solidFill>
              </a:defRPr>
            </a:pPr>
            <a:r>
              <a:t>ROI</a:t>
            </a:r>
          </a:p>
        </p:txBody>
      </p:sp>
      <p:sp>
        <p:nvSpPr>
          <p:cNvPr id="33" name="TextBox 32"/>
          <p:cNvSpPr txBox="1"/>
          <p:nvPr/>
        </p:nvSpPr>
        <p:spPr>
          <a:xfrm>
            <a:off x="8321039" y="4572000"/>
            <a:ext cx="3017520" cy="822960"/>
          </a:xfrm>
          <a:prstGeom prst="rect">
            <a:avLst/>
          </a:prstGeom>
          <a:noFill/>
        </p:spPr>
        <p:txBody>
          <a:bodyPr wrap="none">
            <a:spAutoFit/>
          </a:bodyPr>
          <a:lstStyle/>
          <a:p>
            <a:pPr>
              <a:defRPr sz="3800" b="1">
                <a:solidFill>
                  <a:srgbClr val="323741"/>
                </a:solidFill>
              </a:defRPr>
            </a:pPr>
            <a:r>
              <a:t>204.6%</a:t>
            </a:r>
          </a:p>
        </p:txBody>
      </p:sp>
      <p:sp>
        <p:nvSpPr>
          <p:cNvPr id="34" name="TextBox 33"/>
          <p:cNvSpPr txBox="1"/>
          <p:nvPr/>
        </p:nvSpPr>
        <p:spPr>
          <a:xfrm>
            <a:off x="8321039" y="5394960"/>
            <a:ext cx="3017520" cy="365760"/>
          </a:xfrm>
          <a:prstGeom prst="rect">
            <a:avLst/>
          </a:prstGeom>
          <a:noFill/>
        </p:spPr>
        <p:txBody>
          <a:bodyPr wrap="none">
            <a:spAutoFit/>
          </a:bodyPr>
          <a:lstStyle/>
          <a:p>
            <a:pPr>
              <a:defRPr sz="1100">
                <a:solidFill>
                  <a:srgbClr val="787D87"/>
                </a:solidFill>
              </a:defRPr>
            </a:pPr>
            <a:r>
              <a:t>Return on investment</a:t>
            </a:r>
          </a:p>
        </p:txBody>
      </p:sp>
      <p:sp>
        <p:nvSpPr>
          <p:cNvPr id="35" name="Rounded Rectangle 34"/>
          <p:cNvSpPr/>
          <p:nvPr/>
        </p:nvSpPr>
        <p:spPr>
          <a:xfrm>
            <a:off x="548640" y="6035040"/>
            <a:ext cx="11064240" cy="640080"/>
          </a:xfrm>
          <a:prstGeom prst="roundRect">
            <a:avLst/>
          </a:prstGeom>
          <a:solidFill>
            <a:srgbClr val="E6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6172200"/>
            <a:ext cx="10515600" cy="457200"/>
          </a:xfrm>
          <a:prstGeom prst="rect">
            <a:avLst/>
          </a:prstGeom>
          <a:noFill/>
        </p:spPr>
        <p:txBody>
          <a:bodyPr wrap="none">
            <a:spAutoFit/>
          </a:bodyPr>
          <a:lstStyle/>
          <a:p>
            <a:pPr>
              <a:defRPr sz="1400" b="1">
                <a:solidFill>
                  <a:srgbClr val="142850"/>
                </a:solidFill>
              </a:defRPr>
            </a:pPr>
            <a:r>
              <a:t>KEY INSIGHT: New Year Sale leads with $6,210 revenue and 199% ROI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Executive Summary</a:t>
            </a:r>
          </a:p>
        </p:txBody>
      </p:sp>
      <p:sp>
        <p:nvSpPr>
          <p:cNvPr id="5" name="Rounded Rectangle 4"/>
          <p:cNvSpPr/>
          <p:nvPr/>
        </p:nvSpPr>
        <p:spPr>
          <a:xfrm>
            <a:off x="548640" y="1371600"/>
            <a:ext cx="2011680" cy="365760"/>
          </a:xfrm>
          <a:prstGeom prst="roundRect">
            <a:avLst/>
          </a:prstGeom>
          <a:solidFill>
            <a:srgbClr val="E6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17320"/>
            <a:ext cx="1828800" cy="320040"/>
          </a:xfrm>
          <a:prstGeom prst="rect">
            <a:avLst/>
          </a:prstGeom>
          <a:noFill/>
        </p:spPr>
        <p:txBody>
          <a:bodyPr wrap="none">
            <a:spAutoFit/>
          </a:bodyPr>
          <a:lstStyle/>
          <a:p>
            <a:pPr>
              <a:defRPr sz="1200" b="1">
                <a:solidFill>
                  <a:srgbClr val="142850"/>
                </a:solidFill>
              </a:defRPr>
            </a:pPr>
            <a:r>
              <a:t>AI-Generated Analysis</a:t>
            </a:r>
          </a:p>
        </p:txBody>
      </p:sp>
      <p:sp>
        <p:nvSpPr>
          <p:cNvPr id="7" name="Rounded Rectangle 6"/>
          <p:cNvSpPr/>
          <p:nvPr/>
        </p:nvSpPr>
        <p:spPr>
          <a:xfrm>
            <a:off x="548640" y="1920240"/>
            <a:ext cx="11064240" cy="256032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515600" cy="2194560"/>
          </a:xfrm>
          <a:prstGeom prst="rect">
            <a:avLst/>
          </a:prstGeom>
          <a:noFill/>
        </p:spPr>
        <p:txBody>
          <a:bodyPr wrap="square">
            <a:spAutoFit/>
          </a:bodyPr>
          <a:lstStyle/>
          <a:p>
            <a:pPr>
              <a:lnSpc>
                <a:spcPct val="130000"/>
              </a:lnSpc>
              <a:defRPr sz="1800">
                <a:solidFill>
                  <a:srgbClr val="323741"/>
                </a:solidFill>
              </a:defRPr>
            </a:pPr>
            <a:r>
              <a:t>During the initial twelve days of 2024, our advertising efforts generated 558,000 impressions, translating into 15,300 clicks and 590 conversions. This resulted in revenue of $17,700 against a spend of $5,810, yielding a robust ROI of 204.6%. Among our campaigns, the New Year Sale emerged as the top performer with a budget of $6,210, while the Flash Deal, at $1,740, contributed least to overall performance. Notably, two anomalies were detected, warranting further investigation. These insights highlight the effectiveness of our marketing strategies and open avenues for optimizing future campaigns to maximize engagement and revenue.</a:t>
            </a:r>
          </a:p>
        </p:txBody>
      </p:sp>
      <p:sp>
        <p:nvSpPr>
          <p:cNvPr id="9" name="Rounded Rectangle 8"/>
          <p:cNvSpPr/>
          <p:nvPr/>
        </p:nvSpPr>
        <p:spPr>
          <a:xfrm>
            <a:off x="548640" y="4754880"/>
            <a:ext cx="11064240" cy="457200"/>
          </a:xfrm>
          <a:prstGeom prst="round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846320"/>
            <a:ext cx="9144000" cy="365760"/>
          </a:xfrm>
          <a:prstGeom prst="rect">
            <a:avLst/>
          </a:prstGeom>
          <a:noFill/>
        </p:spPr>
        <p:txBody>
          <a:bodyPr wrap="none">
            <a:spAutoFit/>
          </a:bodyPr>
          <a:lstStyle/>
          <a:p>
            <a:pPr>
              <a:defRPr sz="1400" b="1">
                <a:solidFill>
                  <a:srgbClr val="DC3545"/>
                </a:solidFill>
              </a:defRPr>
            </a:pPr>
            <a:r>
              <a:t>ANOMALIES DETECTED: 2 unusual patterns identified</a:t>
            </a:r>
          </a:p>
        </p:txBody>
      </p:sp>
      <p:sp>
        <p:nvSpPr>
          <p:cNvPr id="11" name="TextBox 10"/>
          <p:cNvSpPr txBox="1"/>
          <p:nvPr/>
        </p:nvSpPr>
        <p:spPr>
          <a:xfrm>
            <a:off x="822960" y="5349240"/>
            <a:ext cx="10058400" cy="365760"/>
          </a:xfrm>
          <a:prstGeom prst="rect">
            <a:avLst/>
          </a:prstGeom>
          <a:noFill/>
        </p:spPr>
        <p:txBody>
          <a:bodyPr wrap="none">
            <a:spAutoFit/>
          </a:bodyPr>
          <a:lstStyle/>
          <a:p>
            <a:pPr>
              <a:defRPr sz="1300">
                <a:solidFill>
                  <a:srgbClr val="644646"/>
                </a:solidFill>
              </a:defRPr>
            </a:pPr>
            <a:r>
              <a:t>  -  New Year Sale - unusual metrics on 2024-01-05</a:t>
            </a:r>
          </a:p>
        </p:txBody>
      </p:sp>
      <p:sp>
        <p:nvSpPr>
          <p:cNvPr id="12" name="TextBox 11"/>
          <p:cNvSpPr txBox="1"/>
          <p:nvPr/>
        </p:nvSpPr>
        <p:spPr>
          <a:xfrm>
            <a:off x="822960" y="5760720"/>
            <a:ext cx="10058400" cy="365760"/>
          </a:xfrm>
          <a:prstGeom prst="rect">
            <a:avLst/>
          </a:prstGeom>
          <a:noFill/>
        </p:spPr>
        <p:txBody>
          <a:bodyPr wrap="none">
            <a:spAutoFit/>
          </a:bodyPr>
          <a:lstStyle/>
          <a:p>
            <a:pPr>
              <a:defRPr sz="1300">
                <a:solidFill>
                  <a:srgbClr val="644646"/>
                </a:solidFill>
              </a:defRPr>
            </a:pPr>
            <a:r>
              <a:t>  -  Flash Deal - unusual metrics on 2024-01-07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Performance Dashboard</a:t>
            </a:r>
          </a:p>
        </p:txBody>
      </p:sp>
      <p:pic>
        <p:nvPicPr>
          <p:cNvPr id="5" name="Picture 4" descr="dashboard.png"/>
          <p:cNvPicPr>
            <a:picLocks noChangeAspect="1"/>
          </p:cNvPicPr>
          <p:nvPr/>
        </p:nvPicPr>
        <p:blipFill>
          <a:blip r:embed="rId2"/>
          <a:stretch>
            <a:fillRect/>
          </a:stretch>
        </p:blipFill>
        <p:spPr>
          <a:xfrm>
            <a:off x="365760" y="1280160"/>
            <a:ext cx="11430000" cy="756877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Campaign Performance</a:t>
            </a:r>
          </a:p>
        </p:txBody>
      </p:sp>
      <p:pic>
        <p:nvPicPr>
          <p:cNvPr id="5" name="Picture 4" descr="campaign_revenue.png"/>
          <p:cNvPicPr>
            <a:picLocks noChangeAspect="1"/>
          </p:cNvPicPr>
          <p:nvPr/>
        </p:nvPicPr>
        <p:blipFill>
          <a:blip r:embed="rId2"/>
          <a:stretch>
            <a:fillRect/>
          </a:stretch>
        </p:blipFill>
        <p:spPr>
          <a:xfrm>
            <a:off x="365760" y="1280160"/>
            <a:ext cx="11430000" cy="72324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Strategic Recommendations</a:t>
            </a:r>
          </a:p>
        </p:txBody>
      </p:sp>
      <p:sp>
        <p:nvSpPr>
          <p:cNvPr id="5" name="Rounded Rectangle 4"/>
          <p:cNvSpPr/>
          <p:nvPr/>
        </p:nvSpPr>
        <p:spPr>
          <a:xfrm>
            <a:off x="548640" y="1371600"/>
            <a:ext cx="11064240" cy="105156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91440" cy="105156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600200"/>
            <a:ext cx="594360" cy="5943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64208"/>
            <a:ext cx="594360" cy="457200"/>
          </a:xfrm>
          <a:prstGeom prst="rect">
            <a:avLst/>
          </a:prstGeom>
          <a:noFill/>
        </p:spPr>
        <p:txBody>
          <a:bodyPr wrap="none">
            <a:spAutoFit/>
          </a:bodyPr>
          <a:lstStyle/>
          <a:p>
            <a:pPr algn="ctr">
              <a:defRPr sz="2200" b="1">
                <a:solidFill>
                  <a:srgbClr val="FFFFFF"/>
                </a:solidFill>
              </a:defRPr>
            </a:pPr>
            <a:r>
              <a:t>1</a:t>
            </a:r>
          </a:p>
        </p:txBody>
      </p:sp>
      <p:sp>
        <p:nvSpPr>
          <p:cNvPr id="9" name="TextBox 8"/>
          <p:cNvSpPr txBox="1"/>
          <p:nvPr/>
        </p:nvSpPr>
        <p:spPr>
          <a:xfrm>
            <a:off x="1737360" y="1645920"/>
            <a:ext cx="9601200" cy="640080"/>
          </a:xfrm>
          <a:prstGeom prst="rect">
            <a:avLst/>
          </a:prstGeom>
          <a:noFill/>
        </p:spPr>
        <p:txBody>
          <a:bodyPr wrap="square">
            <a:spAutoFit/>
          </a:bodyPr>
          <a:lstStyle/>
          <a:p>
            <a:pPr>
              <a:defRPr sz="1700">
                <a:solidFill>
                  <a:srgbClr val="323741"/>
                </a:solidFill>
              </a:defRPr>
            </a:pPr>
            <a:r>
              <a:t>Increase budget for high-performing campaigns like New Year Sale.</a:t>
            </a:r>
          </a:p>
        </p:txBody>
      </p:sp>
      <p:sp>
        <p:nvSpPr>
          <p:cNvPr id="10" name="Rounded Rectangle 9"/>
          <p:cNvSpPr/>
          <p:nvPr/>
        </p:nvSpPr>
        <p:spPr>
          <a:xfrm>
            <a:off x="548640" y="2651760"/>
            <a:ext cx="11064240" cy="105156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651760"/>
            <a:ext cx="91440" cy="10515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880360"/>
            <a:ext cx="594360" cy="5943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44368"/>
            <a:ext cx="594360" cy="457200"/>
          </a:xfrm>
          <a:prstGeom prst="rect">
            <a:avLst/>
          </a:prstGeom>
          <a:noFill/>
        </p:spPr>
        <p:txBody>
          <a:bodyPr wrap="none">
            <a:spAutoFit/>
          </a:bodyPr>
          <a:lstStyle/>
          <a:p>
            <a:pPr algn="ctr">
              <a:defRPr sz="2200" b="1">
                <a:solidFill>
                  <a:srgbClr val="FFFFFF"/>
                </a:solidFill>
              </a:defRPr>
            </a:pPr>
            <a:r>
              <a:t>2</a:t>
            </a:r>
          </a:p>
        </p:txBody>
      </p:sp>
      <p:sp>
        <p:nvSpPr>
          <p:cNvPr id="14" name="TextBox 13"/>
          <p:cNvSpPr txBox="1"/>
          <p:nvPr/>
        </p:nvSpPr>
        <p:spPr>
          <a:xfrm>
            <a:off x="1737360" y="2926080"/>
            <a:ext cx="9601200" cy="640080"/>
          </a:xfrm>
          <a:prstGeom prst="rect">
            <a:avLst/>
          </a:prstGeom>
          <a:noFill/>
        </p:spPr>
        <p:txBody>
          <a:bodyPr wrap="square">
            <a:spAutoFit/>
          </a:bodyPr>
          <a:lstStyle/>
          <a:p>
            <a:pPr>
              <a:defRPr sz="1700">
                <a:solidFill>
                  <a:srgbClr val="323741"/>
                </a:solidFill>
              </a:defRPr>
            </a:pPr>
            <a:r>
              <a:t>Analyze anomalies to identify areas for improvement in conversion rates.</a:t>
            </a:r>
          </a:p>
        </p:txBody>
      </p:sp>
      <p:sp>
        <p:nvSpPr>
          <p:cNvPr id="15" name="Rounded Rectangle 14"/>
          <p:cNvSpPr/>
          <p:nvPr/>
        </p:nvSpPr>
        <p:spPr>
          <a:xfrm>
            <a:off x="548640" y="3931920"/>
            <a:ext cx="11064240" cy="105156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31920"/>
            <a:ext cx="91440" cy="1051560"/>
          </a:xfrm>
          <a:prstGeom prst="rect">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160520"/>
            <a:ext cx="594360" cy="59436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224528"/>
            <a:ext cx="594360" cy="457200"/>
          </a:xfrm>
          <a:prstGeom prst="rect">
            <a:avLst/>
          </a:prstGeom>
          <a:noFill/>
        </p:spPr>
        <p:txBody>
          <a:bodyPr wrap="none">
            <a:spAutoFit/>
          </a:bodyPr>
          <a:lstStyle/>
          <a:p>
            <a:pPr algn="ctr">
              <a:defRPr sz="2200" b="1">
                <a:solidFill>
                  <a:srgbClr val="FFFFFF"/>
                </a:solidFill>
              </a:defRPr>
            </a:pPr>
            <a:r>
              <a:t>3</a:t>
            </a:r>
          </a:p>
        </p:txBody>
      </p:sp>
      <p:sp>
        <p:nvSpPr>
          <p:cNvPr id="19" name="TextBox 18"/>
          <p:cNvSpPr txBox="1"/>
          <p:nvPr/>
        </p:nvSpPr>
        <p:spPr>
          <a:xfrm>
            <a:off x="1737360" y="4206240"/>
            <a:ext cx="9601200" cy="640080"/>
          </a:xfrm>
          <a:prstGeom prst="rect">
            <a:avLst/>
          </a:prstGeom>
          <a:noFill/>
        </p:spPr>
        <p:txBody>
          <a:bodyPr wrap="square">
            <a:spAutoFit/>
          </a:bodyPr>
          <a:lstStyle/>
          <a:p>
            <a:pPr>
              <a:defRPr sz="1700">
                <a:solidFill>
                  <a:srgbClr val="323741"/>
                </a:solidFill>
              </a:defRPr>
            </a:pPr>
            <a:r>
              <a:t>Test new ad creatives to boost engagement and click-through rates.</a:t>
            </a:r>
          </a:p>
        </p:txBody>
      </p:sp>
      <p:sp>
        <p:nvSpPr>
          <p:cNvPr id="20" name="Rounded Rectangle 19"/>
          <p:cNvSpPr/>
          <p:nvPr/>
        </p:nvSpPr>
        <p:spPr>
          <a:xfrm>
            <a:off x="548640" y="5212079"/>
            <a:ext cx="11064240" cy="105156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212079"/>
            <a:ext cx="91440" cy="105156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440679"/>
            <a:ext cx="594360" cy="59436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04687"/>
            <a:ext cx="594360" cy="457200"/>
          </a:xfrm>
          <a:prstGeom prst="rect">
            <a:avLst/>
          </a:prstGeom>
          <a:noFill/>
        </p:spPr>
        <p:txBody>
          <a:bodyPr wrap="none">
            <a:spAutoFit/>
          </a:bodyPr>
          <a:lstStyle/>
          <a:p>
            <a:pPr algn="ctr">
              <a:defRPr sz="2200" b="1">
                <a:solidFill>
                  <a:srgbClr val="FFFFFF"/>
                </a:solidFill>
              </a:defRPr>
            </a:pPr>
            <a:r>
              <a:t>4</a:t>
            </a:r>
          </a:p>
        </p:txBody>
      </p:sp>
      <p:sp>
        <p:nvSpPr>
          <p:cNvPr id="24" name="TextBox 23"/>
          <p:cNvSpPr txBox="1"/>
          <p:nvPr/>
        </p:nvSpPr>
        <p:spPr>
          <a:xfrm>
            <a:off x="1737360" y="5486399"/>
            <a:ext cx="9601200" cy="640080"/>
          </a:xfrm>
          <a:prstGeom prst="rect">
            <a:avLst/>
          </a:prstGeom>
          <a:noFill/>
        </p:spPr>
        <p:txBody>
          <a:bodyPr wrap="square">
            <a:spAutoFit/>
          </a:bodyPr>
          <a:lstStyle/>
          <a:p>
            <a:pPr>
              <a:defRPr sz="1700">
                <a:solidFill>
                  <a:srgbClr val="323741"/>
                </a:solidFill>
              </a:defRPr>
            </a:pPr>
            <a:r>
              <a:t>Consider retargeting ads for users who clicked but didn’t convert.</a:t>
            </a:r>
          </a:p>
        </p:txBody>
      </p:sp>
      <p:sp>
        <p:nvSpPr>
          <p:cNvPr id="25" name="TextBox 24"/>
          <p:cNvSpPr txBox="1"/>
          <p:nvPr/>
        </p:nvSpPr>
        <p:spPr>
          <a:xfrm>
            <a:off x="548640" y="6400800"/>
            <a:ext cx="10972800" cy="365760"/>
          </a:xfrm>
          <a:prstGeom prst="rect">
            <a:avLst/>
          </a:prstGeom>
          <a:noFill/>
        </p:spPr>
        <p:txBody>
          <a:bodyPr wrap="none">
            <a:spAutoFit/>
          </a:bodyPr>
          <a:lstStyle/>
          <a:p>
            <a:pPr>
              <a:defRPr sz="1100" i="1">
                <a:solidFill>
                  <a:srgbClr val="828791"/>
                </a:solidFill>
              </a:defRPr>
            </a:pPr>
            <a:r>
              <a:t>Recommendations generated by AI based on data patterns. Review and adapt to your business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