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73152" cy="18288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371600"/>
            <a:ext cx="9144000" cy="1097280"/>
          </a:xfrm>
          <a:prstGeom prst="rect">
            <a:avLst/>
          </a:prstGeom>
          <a:noFill/>
        </p:spPr>
        <p:txBody>
          <a:bodyPr wrap="none">
            <a:spAutoFit/>
          </a:bodyPr>
          <a:lstStyle/>
          <a:p>
            <a:pPr>
              <a:defRPr sz="5200" b="1">
                <a:solidFill>
                  <a:srgbClr val="FFFFFF"/>
                </a:solidFill>
              </a:defRPr>
            </a:pPr>
            <a:r>
              <a:t>Campaign Db</a:t>
            </a:r>
          </a:p>
        </p:txBody>
      </p:sp>
      <p:sp>
        <p:nvSpPr>
          <p:cNvPr id="6" name="TextBox 5"/>
          <p:cNvSpPr txBox="1"/>
          <p:nvPr/>
        </p:nvSpPr>
        <p:spPr>
          <a:xfrm>
            <a:off x="1005840" y="2377440"/>
            <a:ext cx="9144000" cy="548640"/>
          </a:xfrm>
          <a:prstGeom prst="rect">
            <a:avLst/>
          </a:prstGeom>
          <a:noFill/>
        </p:spPr>
        <p:txBody>
          <a:bodyPr wrap="none">
            <a:spAutoFit/>
          </a:bodyPr>
          <a:lstStyle/>
          <a:p>
            <a:pPr>
              <a:defRPr sz="2400">
                <a:solidFill>
                  <a:srgbClr val="B4C8DC"/>
                </a:solidFill>
              </a:defRPr>
            </a:pPr>
            <a:r>
              <a:t>Performance Analytics Report</a:t>
            </a:r>
          </a:p>
        </p:txBody>
      </p:sp>
      <p:sp>
        <p:nvSpPr>
          <p:cNvPr id="7" name="TextBox 6"/>
          <p:cNvSpPr txBox="1"/>
          <p:nvPr/>
        </p:nvSpPr>
        <p:spPr>
          <a:xfrm>
            <a:off x="1005840" y="3017520"/>
            <a:ext cx="9144000" cy="365760"/>
          </a:xfrm>
          <a:prstGeom prst="rect">
            <a:avLst/>
          </a:prstGeom>
          <a:noFill/>
        </p:spPr>
        <p:txBody>
          <a:bodyPr wrap="none">
            <a:spAutoFit/>
          </a:bodyPr>
          <a:lstStyle/>
          <a:p>
            <a:pPr>
              <a:defRPr sz="1600">
                <a:solidFill>
                  <a:srgbClr val="8CA0B4"/>
                </a:solidFill>
              </a:defRPr>
            </a:pPr>
            <a:r>
              <a:t>2024-04-01  |  2024-04-10</a:t>
            </a:r>
          </a:p>
        </p:txBody>
      </p:sp>
      <p:sp>
        <p:nvSpPr>
          <p:cNvPr id="8" name="Rounded Rectangle 7"/>
          <p:cNvSpPr/>
          <p:nvPr/>
        </p:nvSpPr>
        <p:spPr>
          <a:xfrm>
            <a:off x="914400" y="4389120"/>
            <a:ext cx="3291840" cy="1645920"/>
          </a:xfrm>
          <a:prstGeom prst="roundRect">
            <a:avLst/>
          </a:prstGeom>
          <a:solidFill>
            <a:srgbClr val="1E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4389120"/>
            <a:ext cx="3291840" cy="54864"/>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663440"/>
            <a:ext cx="2926080" cy="365760"/>
          </a:xfrm>
          <a:prstGeom prst="rect">
            <a:avLst/>
          </a:prstGeom>
          <a:noFill/>
        </p:spPr>
        <p:txBody>
          <a:bodyPr wrap="none">
            <a:spAutoFit/>
          </a:bodyPr>
          <a:lstStyle/>
          <a:p>
            <a:pPr>
              <a:defRPr sz="1100" b="1">
                <a:solidFill>
                  <a:srgbClr val="96AABE"/>
                </a:solidFill>
              </a:defRPr>
            </a:pPr>
            <a:r>
              <a:t>TOTAL REVENUE</a:t>
            </a:r>
          </a:p>
        </p:txBody>
      </p:sp>
      <p:sp>
        <p:nvSpPr>
          <p:cNvPr id="11" name="TextBox 10"/>
          <p:cNvSpPr txBox="1"/>
          <p:nvPr/>
        </p:nvSpPr>
        <p:spPr>
          <a:xfrm>
            <a:off x="1097280" y="5120640"/>
            <a:ext cx="2926080" cy="731520"/>
          </a:xfrm>
          <a:prstGeom prst="rect">
            <a:avLst/>
          </a:prstGeom>
          <a:noFill/>
        </p:spPr>
        <p:txBody>
          <a:bodyPr wrap="none">
            <a:spAutoFit/>
          </a:bodyPr>
          <a:lstStyle/>
          <a:p>
            <a:pPr>
              <a:defRPr sz="3600" b="1">
                <a:solidFill>
                  <a:srgbClr val="FFFFFF"/>
                </a:solidFill>
              </a:defRPr>
            </a:pPr>
            <a:r>
              <a:t>$34,050</a:t>
            </a:r>
          </a:p>
        </p:txBody>
      </p:sp>
      <p:sp>
        <p:nvSpPr>
          <p:cNvPr id="12" name="Rounded Rectangle 11"/>
          <p:cNvSpPr/>
          <p:nvPr/>
        </p:nvSpPr>
        <p:spPr>
          <a:xfrm>
            <a:off x="4572000" y="4389120"/>
            <a:ext cx="3291840" cy="1645920"/>
          </a:xfrm>
          <a:prstGeom prst="roundRect">
            <a:avLst/>
          </a:prstGeom>
          <a:solidFill>
            <a:srgbClr val="1E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4389120"/>
            <a:ext cx="3291840" cy="548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4663440"/>
            <a:ext cx="2926080" cy="365760"/>
          </a:xfrm>
          <a:prstGeom prst="rect">
            <a:avLst/>
          </a:prstGeom>
          <a:noFill/>
        </p:spPr>
        <p:txBody>
          <a:bodyPr wrap="none">
            <a:spAutoFit/>
          </a:bodyPr>
          <a:lstStyle/>
          <a:p>
            <a:pPr>
              <a:defRPr sz="1100" b="1">
                <a:solidFill>
                  <a:srgbClr val="96AABE"/>
                </a:solidFill>
              </a:defRPr>
            </a:pPr>
            <a:r>
              <a:t>RETURN ON INVESTMENT</a:t>
            </a:r>
          </a:p>
        </p:txBody>
      </p:sp>
      <p:sp>
        <p:nvSpPr>
          <p:cNvPr id="15" name="TextBox 14"/>
          <p:cNvSpPr txBox="1"/>
          <p:nvPr/>
        </p:nvSpPr>
        <p:spPr>
          <a:xfrm>
            <a:off x="4754880" y="5120640"/>
            <a:ext cx="2926080" cy="731520"/>
          </a:xfrm>
          <a:prstGeom prst="rect">
            <a:avLst/>
          </a:prstGeom>
          <a:noFill/>
        </p:spPr>
        <p:txBody>
          <a:bodyPr wrap="none">
            <a:spAutoFit/>
          </a:bodyPr>
          <a:lstStyle/>
          <a:p>
            <a:pPr>
              <a:defRPr sz="3600" b="1">
                <a:solidFill>
                  <a:srgbClr val="FFFFFF"/>
                </a:solidFill>
              </a:defRPr>
            </a:pPr>
            <a:r>
              <a:t>266.9%</a:t>
            </a:r>
          </a:p>
        </p:txBody>
      </p:sp>
      <p:sp>
        <p:nvSpPr>
          <p:cNvPr id="16" name="Rounded Rectangle 15"/>
          <p:cNvSpPr/>
          <p:nvPr/>
        </p:nvSpPr>
        <p:spPr>
          <a:xfrm>
            <a:off x="8229600" y="4389120"/>
            <a:ext cx="3291840" cy="1645920"/>
          </a:xfrm>
          <a:prstGeom prst="roundRect">
            <a:avLst/>
          </a:prstGeom>
          <a:solidFill>
            <a:srgbClr val="1E32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4389120"/>
            <a:ext cx="3291840" cy="54864"/>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4663440"/>
            <a:ext cx="2926080" cy="365760"/>
          </a:xfrm>
          <a:prstGeom prst="rect">
            <a:avLst/>
          </a:prstGeom>
          <a:noFill/>
        </p:spPr>
        <p:txBody>
          <a:bodyPr wrap="none">
            <a:spAutoFit/>
          </a:bodyPr>
          <a:lstStyle/>
          <a:p>
            <a:pPr>
              <a:defRPr sz="1100" b="1">
                <a:solidFill>
                  <a:srgbClr val="96AABE"/>
                </a:solidFill>
              </a:defRPr>
            </a:pPr>
            <a:r>
              <a:t>TOTAL IMPRESSIONS</a:t>
            </a:r>
          </a:p>
        </p:txBody>
      </p:sp>
      <p:sp>
        <p:nvSpPr>
          <p:cNvPr id="19" name="TextBox 18"/>
          <p:cNvSpPr txBox="1"/>
          <p:nvPr/>
        </p:nvSpPr>
        <p:spPr>
          <a:xfrm>
            <a:off x="8412480" y="5120640"/>
            <a:ext cx="2926080" cy="731520"/>
          </a:xfrm>
          <a:prstGeom prst="rect">
            <a:avLst/>
          </a:prstGeom>
          <a:noFill/>
        </p:spPr>
        <p:txBody>
          <a:bodyPr wrap="none">
            <a:spAutoFit/>
          </a:bodyPr>
          <a:lstStyle/>
          <a:p>
            <a:pPr>
              <a:defRPr sz="3600" b="1">
                <a:solidFill>
                  <a:srgbClr val="FFFFFF"/>
                </a:solidFill>
              </a:defRPr>
            </a:pPr>
            <a:r>
              <a:t>898,000</a:t>
            </a:r>
          </a:p>
        </p:txBody>
      </p:sp>
      <p:sp>
        <p:nvSpPr>
          <p:cNvPr id="20" name="TextBox 19"/>
          <p:cNvSpPr txBox="1"/>
          <p:nvPr/>
        </p:nvSpPr>
        <p:spPr>
          <a:xfrm>
            <a:off x="914400" y="6400800"/>
            <a:ext cx="10058400" cy="274320"/>
          </a:xfrm>
          <a:prstGeom prst="rect">
            <a:avLst/>
          </a:prstGeom>
          <a:noFill/>
        </p:spPr>
        <p:txBody>
          <a:bodyPr wrap="none">
            <a:spAutoFit/>
          </a:bodyPr>
          <a:lstStyle/>
          <a:p>
            <a:pPr>
              <a:defRPr sz="1000">
                <a:solidFill>
                  <a:srgbClr val="64788C"/>
                </a:solidFill>
              </a:defRPr>
            </a:pPr>
            <a:r>
              <a:t>Generated: December 03, 2025  |  Powered by TrendSpotter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Key Performance Indicators</a:t>
            </a:r>
          </a:p>
        </p:txBody>
      </p:sp>
      <p:sp>
        <p:nvSpPr>
          <p:cNvPr id="5" name="Rounded Rectangle 4"/>
          <p:cNvSpPr/>
          <p:nvPr/>
        </p:nvSpPr>
        <p:spPr>
          <a:xfrm>
            <a:off x="548640" y="146304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91440" cy="20116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37360"/>
            <a:ext cx="3017520" cy="365760"/>
          </a:xfrm>
          <a:prstGeom prst="rect">
            <a:avLst/>
          </a:prstGeom>
          <a:noFill/>
        </p:spPr>
        <p:txBody>
          <a:bodyPr wrap="none">
            <a:spAutoFit/>
          </a:bodyPr>
          <a:lstStyle/>
          <a:p>
            <a:pPr>
              <a:defRPr sz="1200" b="1">
                <a:solidFill>
                  <a:srgbClr val="646973"/>
                </a:solidFill>
              </a:defRPr>
            </a:pPr>
            <a:r>
              <a:t>IMPRESSIONS</a:t>
            </a:r>
          </a:p>
        </p:txBody>
      </p:sp>
      <p:sp>
        <p:nvSpPr>
          <p:cNvPr id="8" name="TextBox 7"/>
          <p:cNvSpPr txBox="1"/>
          <p:nvPr/>
        </p:nvSpPr>
        <p:spPr>
          <a:xfrm>
            <a:off x="822960" y="2194560"/>
            <a:ext cx="3017520" cy="822960"/>
          </a:xfrm>
          <a:prstGeom prst="rect">
            <a:avLst/>
          </a:prstGeom>
          <a:noFill/>
        </p:spPr>
        <p:txBody>
          <a:bodyPr wrap="none">
            <a:spAutoFit/>
          </a:bodyPr>
          <a:lstStyle/>
          <a:p>
            <a:pPr>
              <a:defRPr sz="3800" b="1">
                <a:solidFill>
                  <a:srgbClr val="323741"/>
                </a:solidFill>
              </a:defRPr>
            </a:pPr>
            <a:r>
              <a:t>898,000</a:t>
            </a:r>
          </a:p>
        </p:txBody>
      </p:sp>
      <p:sp>
        <p:nvSpPr>
          <p:cNvPr id="9" name="TextBox 8"/>
          <p:cNvSpPr txBox="1"/>
          <p:nvPr/>
        </p:nvSpPr>
        <p:spPr>
          <a:xfrm>
            <a:off x="822960" y="3017520"/>
            <a:ext cx="3017520" cy="365760"/>
          </a:xfrm>
          <a:prstGeom prst="rect">
            <a:avLst/>
          </a:prstGeom>
          <a:noFill/>
        </p:spPr>
        <p:txBody>
          <a:bodyPr wrap="none">
            <a:spAutoFit/>
          </a:bodyPr>
          <a:lstStyle/>
          <a:p>
            <a:pPr>
              <a:defRPr sz="1100">
                <a:solidFill>
                  <a:srgbClr val="787D87"/>
                </a:solidFill>
              </a:defRPr>
            </a:pPr>
            <a:r>
              <a:t>Total ad views delivered</a:t>
            </a:r>
          </a:p>
        </p:txBody>
      </p:sp>
      <p:sp>
        <p:nvSpPr>
          <p:cNvPr id="10" name="Rounded Rectangle 9"/>
          <p:cNvSpPr/>
          <p:nvPr/>
        </p:nvSpPr>
        <p:spPr>
          <a:xfrm>
            <a:off x="4297679" y="146304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79" y="1463040"/>
            <a:ext cx="91440" cy="2011680"/>
          </a:xfrm>
          <a:prstGeom prst="rect">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1999" y="1737360"/>
            <a:ext cx="3017520" cy="365760"/>
          </a:xfrm>
          <a:prstGeom prst="rect">
            <a:avLst/>
          </a:prstGeom>
          <a:noFill/>
        </p:spPr>
        <p:txBody>
          <a:bodyPr wrap="none">
            <a:spAutoFit/>
          </a:bodyPr>
          <a:lstStyle/>
          <a:p>
            <a:pPr>
              <a:defRPr sz="1200" b="1">
                <a:solidFill>
                  <a:srgbClr val="646973"/>
                </a:solidFill>
              </a:defRPr>
            </a:pPr>
            <a:r>
              <a:t>CLICKS</a:t>
            </a:r>
          </a:p>
        </p:txBody>
      </p:sp>
      <p:sp>
        <p:nvSpPr>
          <p:cNvPr id="13" name="TextBox 12"/>
          <p:cNvSpPr txBox="1"/>
          <p:nvPr/>
        </p:nvSpPr>
        <p:spPr>
          <a:xfrm>
            <a:off x="4571999" y="2194560"/>
            <a:ext cx="3017520" cy="822960"/>
          </a:xfrm>
          <a:prstGeom prst="rect">
            <a:avLst/>
          </a:prstGeom>
          <a:noFill/>
        </p:spPr>
        <p:txBody>
          <a:bodyPr wrap="none">
            <a:spAutoFit/>
          </a:bodyPr>
          <a:lstStyle/>
          <a:p>
            <a:pPr>
              <a:defRPr sz="3800" b="1">
                <a:solidFill>
                  <a:srgbClr val="323741"/>
                </a:solidFill>
              </a:defRPr>
            </a:pPr>
            <a:r>
              <a:t>26,300</a:t>
            </a:r>
          </a:p>
        </p:txBody>
      </p:sp>
      <p:sp>
        <p:nvSpPr>
          <p:cNvPr id="14" name="TextBox 13"/>
          <p:cNvSpPr txBox="1"/>
          <p:nvPr/>
        </p:nvSpPr>
        <p:spPr>
          <a:xfrm>
            <a:off x="4571999" y="3017520"/>
            <a:ext cx="3017520" cy="365760"/>
          </a:xfrm>
          <a:prstGeom prst="rect">
            <a:avLst/>
          </a:prstGeom>
          <a:noFill/>
        </p:spPr>
        <p:txBody>
          <a:bodyPr wrap="none">
            <a:spAutoFit/>
          </a:bodyPr>
          <a:lstStyle/>
          <a:p>
            <a:pPr>
              <a:defRPr sz="1100">
                <a:solidFill>
                  <a:srgbClr val="787D87"/>
                </a:solidFill>
              </a:defRPr>
            </a:pPr>
            <a:r>
              <a:t>Click-through rate: 2.93%</a:t>
            </a:r>
          </a:p>
        </p:txBody>
      </p:sp>
      <p:sp>
        <p:nvSpPr>
          <p:cNvPr id="15" name="Rounded Rectangle 14"/>
          <p:cNvSpPr/>
          <p:nvPr/>
        </p:nvSpPr>
        <p:spPr>
          <a:xfrm>
            <a:off x="8046719" y="146304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19" y="1463040"/>
            <a:ext cx="91440" cy="2011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39" y="1737360"/>
            <a:ext cx="3017520" cy="365760"/>
          </a:xfrm>
          <a:prstGeom prst="rect">
            <a:avLst/>
          </a:prstGeom>
          <a:noFill/>
        </p:spPr>
        <p:txBody>
          <a:bodyPr wrap="none">
            <a:spAutoFit/>
          </a:bodyPr>
          <a:lstStyle/>
          <a:p>
            <a:pPr>
              <a:defRPr sz="1200" b="1">
                <a:solidFill>
                  <a:srgbClr val="646973"/>
                </a:solidFill>
              </a:defRPr>
            </a:pPr>
            <a:r>
              <a:t>CONVERSIONS</a:t>
            </a:r>
          </a:p>
        </p:txBody>
      </p:sp>
      <p:sp>
        <p:nvSpPr>
          <p:cNvPr id="18" name="TextBox 17"/>
          <p:cNvSpPr txBox="1"/>
          <p:nvPr/>
        </p:nvSpPr>
        <p:spPr>
          <a:xfrm>
            <a:off x="8321039" y="2194560"/>
            <a:ext cx="3017520" cy="822960"/>
          </a:xfrm>
          <a:prstGeom prst="rect">
            <a:avLst/>
          </a:prstGeom>
          <a:noFill/>
        </p:spPr>
        <p:txBody>
          <a:bodyPr wrap="none">
            <a:spAutoFit/>
          </a:bodyPr>
          <a:lstStyle/>
          <a:p>
            <a:pPr>
              <a:defRPr sz="3800" b="1">
                <a:solidFill>
                  <a:srgbClr val="323741"/>
                </a:solidFill>
              </a:defRPr>
            </a:pPr>
            <a:r>
              <a:t>1,135</a:t>
            </a:r>
          </a:p>
        </p:txBody>
      </p:sp>
      <p:sp>
        <p:nvSpPr>
          <p:cNvPr id="19" name="TextBox 18"/>
          <p:cNvSpPr txBox="1"/>
          <p:nvPr/>
        </p:nvSpPr>
        <p:spPr>
          <a:xfrm>
            <a:off x="8321039" y="3017520"/>
            <a:ext cx="3017520" cy="365760"/>
          </a:xfrm>
          <a:prstGeom prst="rect">
            <a:avLst/>
          </a:prstGeom>
          <a:noFill/>
        </p:spPr>
        <p:txBody>
          <a:bodyPr wrap="none">
            <a:spAutoFit/>
          </a:bodyPr>
          <a:lstStyle/>
          <a:p>
            <a:pPr>
              <a:defRPr sz="1100">
                <a:solidFill>
                  <a:srgbClr val="787D87"/>
                </a:solidFill>
              </a:defRPr>
            </a:pPr>
            <a:r>
              <a:t>Completed actions</a:t>
            </a:r>
          </a:p>
        </p:txBody>
      </p:sp>
      <p:sp>
        <p:nvSpPr>
          <p:cNvPr id="20" name="Rounded Rectangle 19"/>
          <p:cNvSpPr/>
          <p:nvPr/>
        </p:nvSpPr>
        <p:spPr>
          <a:xfrm>
            <a:off x="548640" y="384048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840480"/>
            <a:ext cx="91440" cy="2011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114800"/>
            <a:ext cx="3017520" cy="365760"/>
          </a:xfrm>
          <a:prstGeom prst="rect">
            <a:avLst/>
          </a:prstGeom>
          <a:noFill/>
        </p:spPr>
        <p:txBody>
          <a:bodyPr wrap="none">
            <a:spAutoFit/>
          </a:bodyPr>
          <a:lstStyle/>
          <a:p>
            <a:pPr>
              <a:defRPr sz="1200" b="1">
                <a:solidFill>
                  <a:srgbClr val="646973"/>
                </a:solidFill>
              </a:defRPr>
            </a:pPr>
            <a:r>
              <a:t>REVENUE</a:t>
            </a:r>
          </a:p>
        </p:txBody>
      </p:sp>
      <p:sp>
        <p:nvSpPr>
          <p:cNvPr id="23" name="TextBox 22"/>
          <p:cNvSpPr txBox="1"/>
          <p:nvPr/>
        </p:nvSpPr>
        <p:spPr>
          <a:xfrm>
            <a:off x="822960" y="4572000"/>
            <a:ext cx="3017520" cy="822960"/>
          </a:xfrm>
          <a:prstGeom prst="rect">
            <a:avLst/>
          </a:prstGeom>
          <a:noFill/>
        </p:spPr>
        <p:txBody>
          <a:bodyPr wrap="none">
            <a:spAutoFit/>
          </a:bodyPr>
          <a:lstStyle/>
          <a:p>
            <a:pPr>
              <a:defRPr sz="3800" b="1">
                <a:solidFill>
                  <a:srgbClr val="323741"/>
                </a:solidFill>
              </a:defRPr>
            </a:pPr>
            <a:r>
              <a:t>$34,050</a:t>
            </a:r>
          </a:p>
        </p:txBody>
      </p:sp>
      <p:sp>
        <p:nvSpPr>
          <p:cNvPr id="24" name="TextBox 23"/>
          <p:cNvSpPr txBox="1"/>
          <p:nvPr/>
        </p:nvSpPr>
        <p:spPr>
          <a:xfrm>
            <a:off x="822960" y="5394960"/>
            <a:ext cx="3017520" cy="365760"/>
          </a:xfrm>
          <a:prstGeom prst="rect">
            <a:avLst/>
          </a:prstGeom>
          <a:noFill/>
        </p:spPr>
        <p:txBody>
          <a:bodyPr wrap="none">
            <a:spAutoFit/>
          </a:bodyPr>
          <a:lstStyle/>
          <a:p>
            <a:pPr>
              <a:defRPr sz="1100">
                <a:solidFill>
                  <a:srgbClr val="787D87"/>
                </a:solidFill>
              </a:defRPr>
            </a:pPr>
            <a:r>
              <a:t>Total earnings generated</a:t>
            </a:r>
          </a:p>
        </p:txBody>
      </p:sp>
      <p:sp>
        <p:nvSpPr>
          <p:cNvPr id="25" name="Rounded Rectangle 24"/>
          <p:cNvSpPr/>
          <p:nvPr/>
        </p:nvSpPr>
        <p:spPr>
          <a:xfrm>
            <a:off x="4297679" y="384048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297679" y="3840480"/>
            <a:ext cx="91440" cy="20116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1999" y="4114800"/>
            <a:ext cx="3017520" cy="365760"/>
          </a:xfrm>
          <a:prstGeom prst="rect">
            <a:avLst/>
          </a:prstGeom>
          <a:noFill/>
        </p:spPr>
        <p:txBody>
          <a:bodyPr wrap="none">
            <a:spAutoFit/>
          </a:bodyPr>
          <a:lstStyle/>
          <a:p>
            <a:pPr>
              <a:defRPr sz="1200" b="1">
                <a:solidFill>
                  <a:srgbClr val="646973"/>
                </a:solidFill>
              </a:defRPr>
            </a:pPr>
            <a:r>
              <a:t>AD SPEND</a:t>
            </a:r>
          </a:p>
        </p:txBody>
      </p:sp>
      <p:sp>
        <p:nvSpPr>
          <p:cNvPr id="28" name="TextBox 27"/>
          <p:cNvSpPr txBox="1"/>
          <p:nvPr/>
        </p:nvSpPr>
        <p:spPr>
          <a:xfrm>
            <a:off x="4571999" y="4572000"/>
            <a:ext cx="3017520" cy="822960"/>
          </a:xfrm>
          <a:prstGeom prst="rect">
            <a:avLst/>
          </a:prstGeom>
          <a:noFill/>
        </p:spPr>
        <p:txBody>
          <a:bodyPr wrap="none">
            <a:spAutoFit/>
          </a:bodyPr>
          <a:lstStyle/>
          <a:p>
            <a:pPr>
              <a:defRPr sz="3800" b="1">
                <a:solidFill>
                  <a:srgbClr val="323741"/>
                </a:solidFill>
              </a:defRPr>
            </a:pPr>
            <a:r>
              <a:t>$9,280</a:t>
            </a:r>
          </a:p>
        </p:txBody>
      </p:sp>
      <p:sp>
        <p:nvSpPr>
          <p:cNvPr id="29" name="TextBox 28"/>
          <p:cNvSpPr txBox="1"/>
          <p:nvPr/>
        </p:nvSpPr>
        <p:spPr>
          <a:xfrm>
            <a:off x="4571999" y="5394960"/>
            <a:ext cx="3017520" cy="365760"/>
          </a:xfrm>
          <a:prstGeom prst="rect">
            <a:avLst/>
          </a:prstGeom>
          <a:noFill/>
        </p:spPr>
        <p:txBody>
          <a:bodyPr wrap="none">
            <a:spAutoFit/>
          </a:bodyPr>
          <a:lstStyle/>
          <a:p>
            <a:pPr>
              <a:defRPr sz="1100">
                <a:solidFill>
                  <a:srgbClr val="787D87"/>
                </a:solidFill>
              </a:defRPr>
            </a:pPr>
            <a:r>
              <a:t>Marketing investment</a:t>
            </a:r>
          </a:p>
        </p:txBody>
      </p:sp>
      <p:sp>
        <p:nvSpPr>
          <p:cNvPr id="30" name="Rounded Rectangle 29"/>
          <p:cNvSpPr/>
          <p:nvPr/>
        </p:nvSpPr>
        <p:spPr>
          <a:xfrm>
            <a:off x="8046719" y="3840480"/>
            <a:ext cx="347472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46719" y="3840480"/>
            <a:ext cx="91440" cy="201168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21039" y="4114800"/>
            <a:ext cx="3017520" cy="365760"/>
          </a:xfrm>
          <a:prstGeom prst="rect">
            <a:avLst/>
          </a:prstGeom>
          <a:noFill/>
        </p:spPr>
        <p:txBody>
          <a:bodyPr wrap="none">
            <a:spAutoFit/>
          </a:bodyPr>
          <a:lstStyle/>
          <a:p>
            <a:pPr>
              <a:defRPr sz="1200" b="1">
                <a:solidFill>
                  <a:srgbClr val="646973"/>
                </a:solidFill>
              </a:defRPr>
            </a:pPr>
            <a:r>
              <a:t>ROI</a:t>
            </a:r>
          </a:p>
        </p:txBody>
      </p:sp>
      <p:sp>
        <p:nvSpPr>
          <p:cNvPr id="33" name="TextBox 32"/>
          <p:cNvSpPr txBox="1"/>
          <p:nvPr/>
        </p:nvSpPr>
        <p:spPr>
          <a:xfrm>
            <a:off x="8321039" y="4572000"/>
            <a:ext cx="3017520" cy="822960"/>
          </a:xfrm>
          <a:prstGeom prst="rect">
            <a:avLst/>
          </a:prstGeom>
          <a:noFill/>
        </p:spPr>
        <p:txBody>
          <a:bodyPr wrap="none">
            <a:spAutoFit/>
          </a:bodyPr>
          <a:lstStyle/>
          <a:p>
            <a:pPr>
              <a:defRPr sz="3800" b="1">
                <a:solidFill>
                  <a:srgbClr val="323741"/>
                </a:solidFill>
              </a:defRPr>
            </a:pPr>
            <a:r>
              <a:t>266.9%</a:t>
            </a:r>
          </a:p>
        </p:txBody>
      </p:sp>
      <p:sp>
        <p:nvSpPr>
          <p:cNvPr id="34" name="TextBox 33"/>
          <p:cNvSpPr txBox="1"/>
          <p:nvPr/>
        </p:nvSpPr>
        <p:spPr>
          <a:xfrm>
            <a:off x="8321039" y="5394960"/>
            <a:ext cx="3017520" cy="365760"/>
          </a:xfrm>
          <a:prstGeom prst="rect">
            <a:avLst/>
          </a:prstGeom>
          <a:noFill/>
        </p:spPr>
        <p:txBody>
          <a:bodyPr wrap="none">
            <a:spAutoFit/>
          </a:bodyPr>
          <a:lstStyle/>
          <a:p>
            <a:pPr>
              <a:defRPr sz="1100">
                <a:solidFill>
                  <a:srgbClr val="787D87"/>
                </a:solidFill>
              </a:defRPr>
            </a:pPr>
            <a:r>
              <a:t>Return on investment</a:t>
            </a:r>
          </a:p>
        </p:txBody>
      </p:sp>
      <p:sp>
        <p:nvSpPr>
          <p:cNvPr id="35" name="Rounded Rectangle 34"/>
          <p:cNvSpPr/>
          <p:nvPr/>
        </p:nvSpPr>
        <p:spPr>
          <a:xfrm>
            <a:off x="548640" y="6035040"/>
            <a:ext cx="11064240" cy="640080"/>
          </a:xfrm>
          <a:prstGeom prst="roundRect">
            <a:avLst/>
          </a:prstGeom>
          <a:solidFill>
            <a:srgbClr val="E6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6172200"/>
            <a:ext cx="10515600" cy="457200"/>
          </a:xfrm>
          <a:prstGeom prst="rect">
            <a:avLst/>
          </a:prstGeom>
          <a:noFill/>
        </p:spPr>
        <p:txBody>
          <a:bodyPr wrap="none">
            <a:spAutoFit/>
          </a:bodyPr>
          <a:lstStyle/>
          <a:p>
            <a:pPr>
              <a:defRPr sz="1400" b="1">
                <a:solidFill>
                  <a:srgbClr val="142850"/>
                </a:solidFill>
              </a:defRPr>
            </a:pPr>
            <a:r>
              <a:t>KEY INSIGHT: Back to School leads with $10,800 revenue and 260% ROI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Executive Summary</a:t>
            </a:r>
          </a:p>
        </p:txBody>
      </p:sp>
      <p:sp>
        <p:nvSpPr>
          <p:cNvPr id="5" name="Rounded Rectangle 4"/>
          <p:cNvSpPr/>
          <p:nvPr/>
        </p:nvSpPr>
        <p:spPr>
          <a:xfrm>
            <a:off x="548640" y="1371600"/>
            <a:ext cx="2011680" cy="365760"/>
          </a:xfrm>
          <a:prstGeom prst="roundRect">
            <a:avLst/>
          </a:prstGeom>
          <a:solidFill>
            <a:srgbClr val="E6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17320"/>
            <a:ext cx="1828800" cy="320040"/>
          </a:xfrm>
          <a:prstGeom prst="rect">
            <a:avLst/>
          </a:prstGeom>
          <a:noFill/>
        </p:spPr>
        <p:txBody>
          <a:bodyPr wrap="none">
            <a:spAutoFit/>
          </a:bodyPr>
          <a:lstStyle/>
          <a:p>
            <a:pPr>
              <a:defRPr sz="1200" b="1">
                <a:solidFill>
                  <a:srgbClr val="142850"/>
                </a:solidFill>
              </a:defRPr>
            </a:pPr>
            <a:r>
              <a:t>AI-Generated Analysis</a:t>
            </a:r>
          </a:p>
        </p:txBody>
      </p:sp>
      <p:sp>
        <p:nvSpPr>
          <p:cNvPr id="7" name="Rounded Rectangle 6"/>
          <p:cNvSpPr/>
          <p:nvPr/>
        </p:nvSpPr>
        <p:spPr>
          <a:xfrm>
            <a:off x="548640" y="1920240"/>
            <a:ext cx="11064240" cy="256032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94560"/>
            <a:ext cx="10515600" cy="2194560"/>
          </a:xfrm>
          <a:prstGeom prst="rect">
            <a:avLst/>
          </a:prstGeom>
          <a:noFill/>
        </p:spPr>
        <p:txBody>
          <a:bodyPr wrap="square">
            <a:spAutoFit/>
          </a:bodyPr>
          <a:lstStyle/>
          <a:p>
            <a:pPr>
              <a:lnSpc>
                <a:spcPct val="130000"/>
              </a:lnSpc>
              <a:defRPr sz="1800">
                <a:solidFill>
                  <a:srgbClr val="323741"/>
                </a:solidFill>
              </a:defRPr>
            </a:pPr>
            <a:r>
              <a:t>During the period from April 1 to April 10, 2024, our campaigns generated significant engagement, with 898,000 impressions leading to 26,300 clicks and 1,135 conversions. The overall revenue reached $34,050 against a spend of $9,280, resulting in an impressive ROI of 266.9%. The top-performing campaigns were "Back to School" ($10,800) and "Flash Friday" ($10,500), indicating strong market interest in seasonal promotions. Although there was an anomaly detected, it did not detract from the overall positive performance. Continued monitoring and optimization could further enhance results, especially for the "Loyalty Rewards" and "Summer Preview" campaigns.</a:t>
            </a:r>
          </a:p>
        </p:txBody>
      </p:sp>
      <p:sp>
        <p:nvSpPr>
          <p:cNvPr id="9" name="Rounded Rectangle 8"/>
          <p:cNvSpPr/>
          <p:nvPr/>
        </p:nvSpPr>
        <p:spPr>
          <a:xfrm>
            <a:off x="548640" y="4754880"/>
            <a:ext cx="11064240" cy="457200"/>
          </a:xfrm>
          <a:prstGeom prst="roundRect">
            <a:avLst/>
          </a:prstGeom>
          <a:solidFill>
            <a:srgbClr val="FF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846320"/>
            <a:ext cx="9144000" cy="365760"/>
          </a:xfrm>
          <a:prstGeom prst="rect">
            <a:avLst/>
          </a:prstGeom>
          <a:noFill/>
        </p:spPr>
        <p:txBody>
          <a:bodyPr wrap="none">
            <a:spAutoFit/>
          </a:bodyPr>
          <a:lstStyle/>
          <a:p>
            <a:pPr>
              <a:defRPr sz="1400" b="1">
                <a:solidFill>
                  <a:srgbClr val="DC3545"/>
                </a:solidFill>
              </a:defRPr>
            </a:pPr>
            <a:r>
              <a:t>ANOMALIES DETECTED: 1 unusual patterns identified</a:t>
            </a:r>
          </a:p>
        </p:txBody>
      </p:sp>
      <p:sp>
        <p:nvSpPr>
          <p:cNvPr id="11" name="TextBox 10"/>
          <p:cNvSpPr txBox="1"/>
          <p:nvPr/>
        </p:nvSpPr>
        <p:spPr>
          <a:xfrm>
            <a:off x="822960" y="5349240"/>
            <a:ext cx="10058400" cy="365760"/>
          </a:xfrm>
          <a:prstGeom prst="rect">
            <a:avLst/>
          </a:prstGeom>
          <a:noFill/>
        </p:spPr>
        <p:txBody>
          <a:bodyPr wrap="none">
            <a:spAutoFit/>
          </a:bodyPr>
          <a:lstStyle/>
          <a:p>
            <a:pPr>
              <a:defRPr sz="1300">
                <a:solidFill>
                  <a:srgbClr val="644646"/>
                </a:solidFill>
              </a:defRPr>
            </a:pPr>
            <a:r>
              <a:t>  -  Flash Friday - unusual metrics on 2024-04-07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Performance Dashboard</a:t>
            </a:r>
          </a:p>
        </p:txBody>
      </p:sp>
      <p:pic>
        <p:nvPicPr>
          <p:cNvPr id="5" name="Picture 4" descr="dashboard.png"/>
          <p:cNvPicPr>
            <a:picLocks noChangeAspect="1"/>
          </p:cNvPicPr>
          <p:nvPr/>
        </p:nvPicPr>
        <p:blipFill>
          <a:blip r:embed="rId2"/>
          <a:stretch>
            <a:fillRect/>
          </a:stretch>
        </p:blipFill>
        <p:spPr>
          <a:xfrm>
            <a:off x="365760" y="1280160"/>
            <a:ext cx="11430000" cy="75751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Campaign Performance</a:t>
            </a:r>
          </a:p>
        </p:txBody>
      </p:sp>
      <p:pic>
        <p:nvPicPr>
          <p:cNvPr id="5" name="Picture 4" descr="campaign_revenue.png"/>
          <p:cNvPicPr>
            <a:picLocks noChangeAspect="1"/>
          </p:cNvPicPr>
          <p:nvPr/>
        </p:nvPicPr>
        <p:blipFill>
          <a:blip r:embed="rId2"/>
          <a:stretch>
            <a:fillRect/>
          </a:stretch>
        </p:blipFill>
        <p:spPr>
          <a:xfrm>
            <a:off x="365760" y="1280160"/>
            <a:ext cx="11430000" cy="715143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0"/>
          </a:xfrm>
          <a:prstGeom prst="rect">
            <a:avLst/>
          </a:prstGeom>
          <a:solidFill>
            <a:srgbClr val="142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9144000" cy="640080"/>
          </a:xfrm>
          <a:prstGeom prst="rect">
            <a:avLst/>
          </a:prstGeom>
          <a:noFill/>
        </p:spPr>
        <p:txBody>
          <a:bodyPr wrap="none">
            <a:spAutoFit/>
          </a:bodyPr>
          <a:lstStyle/>
          <a:p>
            <a:pPr>
              <a:defRPr sz="3200" b="1">
                <a:solidFill>
                  <a:srgbClr val="FFFFFF"/>
                </a:solidFill>
              </a:defRPr>
            </a:pPr>
            <a:r>
              <a:t>Strategic Recommendations</a:t>
            </a:r>
          </a:p>
        </p:txBody>
      </p:sp>
      <p:sp>
        <p:nvSpPr>
          <p:cNvPr id="5" name="Rounded Rectangle 4"/>
          <p:cNvSpPr/>
          <p:nvPr/>
        </p:nvSpPr>
        <p:spPr>
          <a:xfrm>
            <a:off x="548640" y="1371600"/>
            <a:ext cx="11064240" cy="105156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91440" cy="1051560"/>
          </a:xfrm>
          <a:prstGeom prst="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600200"/>
            <a:ext cx="594360" cy="594360"/>
          </a:xfrm>
          <a:prstGeom prst="ellipse">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664208"/>
            <a:ext cx="594360" cy="457200"/>
          </a:xfrm>
          <a:prstGeom prst="rect">
            <a:avLst/>
          </a:prstGeom>
          <a:noFill/>
        </p:spPr>
        <p:txBody>
          <a:bodyPr wrap="none">
            <a:spAutoFit/>
          </a:bodyPr>
          <a:lstStyle/>
          <a:p>
            <a:pPr algn="ctr">
              <a:defRPr sz="2200" b="1">
                <a:solidFill>
                  <a:srgbClr val="FFFFFF"/>
                </a:solidFill>
              </a:defRPr>
            </a:pPr>
            <a:r>
              <a:t>1</a:t>
            </a:r>
          </a:p>
        </p:txBody>
      </p:sp>
      <p:sp>
        <p:nvSpPr>
          <p:cNvPr id="9" name="TextBox 8"/>
          <p:cNvSpPr txBox="1"/>
          <p:nvPr/>
        </p:nvSpPr>
        <p:spPr>
          <a:xfrm>
            <a:off x="1737360" y="1645920"/>
            <a:ext cx="9601200" cy="640080"/>
          </a:xfrm>
          <a:prstGeom prst="rect">
            <a:avLst/>
          </a:prstGeom>
          <a:noFill/>
        </p:spPr>
        <p:txBody>
          <a:bodyPr wrap="square">
            <a:spAutoFit/>
          </a:bodyPr>
          <a:lstStyle/>
          <a:p>
            <a:pPr>
              <a:defRPr sz="1700">
                <a:solidFill>
                  <a:srgbClr val="323741"/>
                </a:solidFill>
              </a:defRPr>
            </a:pPr>
            <a:r>
              <a:t>Optimize campaigns with high ROI, like Back to School, for better reach.</a:t>
            </a:r>
          </a:p>
        </p:txBody>
      </p:sp>
      <p:sp>
        <p:nvSpPr>
          <p:cNvPr id="10" name="Rounded Rectangle 9"/>
          <p:cNvSpPr/>
          <p:nvPr/>
        </p:nvSpPr>
        <p:spPr>
          <a:xfrm>
            <a:off x="548640" y="2651760"/>
            <a:ext cx="11064240" cy="105156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651760"/>
            <a:ext cx="91440" cy="105156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4400" y="2880360"/>
            <a:ext cx="594360" cy="5943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44368"/>
            <a:ext cx="594360" cy="457200"/>
          </a:xfrm>
          <a:prstGeom prst="rect">
            <a:avLst/>
          </a:prstGeom>
          <a:noFill/>
        </p:spPr>
        <p:txBody>
          <a:bodyPr wrap="none">
            <a:spAutoFit/>
          </a:bodyPr>
          <a:lstStyle/>
          <a:p>
            <a:pPr algn="ctr">
              <a:defRPr sz="2200" b="1">
                <a:solidFill>
                  <a:srgbClr val="FFFFFF"/>
                </a:solidFill>
              </a:defRPr>
            </a:pPr>
            <a:r>
              <a:t>2</a:t>
            </a:r>
          </a:p>
        </p:txBody>
      </p:sp>
      <p:sp>
        <p:nvSpPr>
          <p:cNvPr id="14" name="TextBox 13"/>
          <p:cNvSpPr txBox="1"/>
          <p:nvPr/>
        </p:nvSpPr>
        <p:spPr>
          <a:xfrm>
            <a:off x="1737360" y="2926080"/>
            <a:ext cx="9601200" cy="640080"/>
          </a:xfrm>
          <a:prstGeom prst="rect">
            <a:avLst/>
          </a:prstGeom>
          <a:noFill/>
        </p:spPr>
        <p:txBody>
          <a:bodyPr wrap="square">
            <a:spAutoFit/>
          </a:bodyPr>
          <a:lstStyle/>
          <a:p>
            <a:pPr>
              <a:defRPr sz="1700">
                <a:solidFill>
                  <a:srgbClr val="323741"/>
                </a:solidFill>
              </a:defRPr>
            </a:pPr>
            <a:r>
              <a:t>Reduce spending on lower-performing campaigns to increase overall efficiency.</a:t>
            </a:r>
          </a:p>
        </p:txBody>
      </p:sp>
      <p:sp>
        <p:nvSpPr>
          <p:cNvPr id="15" name="Rounded Rectangle 14"/>
          <p:cNvSpPr/>
          <p:nvPr/>
        </p:nvSpPr>
        <p:spPr>
          <a:xfrm>
            <a:off x="548640" y="3931920"/>
            <a:ext cx="11064240" cy="105156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31920"/>
            <a:ext cx="91440" cy="1051560"/>
          </a:xfrm>
          <a:prstGeom prst="rect">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4400" y="4160520"/>
            <a:ext cx="594360" cy="594360"/>
          </a:xfrm>
          <a:prstGeom prst="ellipse">
            <a:avLst/>
          </a:prstGeom>
          <a:solidFill>
            <a:srgbClr val="A23B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224528"/>
            <a:ext cx="594360" cy="457200"/>
          </a:xfrm>
          <a:prstGeom prst="rect">
            <a:avLst/>
          </a:prstGeom>
          <a:noFill/>
        </p:spPr>
        <p:txBody>
          <a:bodyPr wrap="none">
            <a:spAutoFit/>
          </a:bodyPr>
          <a:lstStyle/>
          <a:p>
            <a:pPr algn="ctr">
              <a:defRPr sz="2200" b="1">
                <a:solidFill>
                  <a:srgbClr val="FFFFFF"/>
                </a:solidFill>
              </a:defRPr>
            </a:pPr>
            <a:r>
              <a:t>3</a:t>
            </a:r>
          </a:p>
        </p:txBody>
      </p:sp>
      <p:sp>
        <p:nvSpPr>
          <p:cNvPr id="19" name="TextBox 18"/>
          <p:cNvSpPr txBox="1"/>
          <p:nvPr/>
        </p:nvSpPr>
        <p:spPr>
          <a:xfrm>
            <a:off x="1737360" y="4206240"/>
            <a:ext cx="9601200" cy="640080"/>
          </a:xfrm>
          <a:prstGeom prst="rect">
            <a:avLst/>
          </a:prstGeom>
          <a:noFill/>
        </p:spPr>
        <p:txBody>
          <a:bodyPr wrap="square">
            <a:spAutoFit/>
          </a:bodyPr>
          <a:lstStyle/>
          <a:p>
            <a:pPr>
              <a:defRPr sz="1700">
                <a:solidFill>
                  <a:srgbClr val="323741"/>
                </a:solidFill>
              </a:defRPr>
            </a:pPr>
            <a:r>
              <a:t>Analyze the anomaly to identify potential areas for improvement.</a:t>
            </a:r>
          </a:p>
        </p:txBody>
      </p:sp>
      <p:sp>
        <p:nvSpPr>
          <p:cNvPr id="20" name="Rounded Rectangle 19"/>
          <p:cNvSpPr/>
          <p:nvPr/>
        </p:nvSpPr>
        <p:spPr>
          <a:xfrm>
            <a:off x="548640" y="5212079"/>
            <a:ext cx="11064240" cy="105156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212079"/>
            <a:ext cx="91440" cy="105156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4400" y="5440679"/>
            <a:ext cx="594360" cy="59436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504687"/>
            <a:ext cx="594360" cy="457200"/>
          </a:xfrm>
          <a:prstGeom prst="rect">
            <a:avLst/>
          </a:prstGeom>
          <a:noFill/>
        </p:spPr>
        <p:txBody>
          <a:bodyPr wrap="none">
            <a:spAutoFit/>
          </a:bodyPr>
          <a:lstStyle/>
          <a:p>
            <a:pPr algn="ctr">
              <a:defRPr sz="2200" b="1">
                <a:solidFill>
                  <a:srgbClr val="FFFFFF"/>
                </a:solidFill>
              </a:defRPr>
            </a:pPr>
            <a:r>
              <a:t>4</a:t>
            </a:r>
          </a:p>
        </p:txBody>
      </p:sp>
      <p:sp>
        <p:nvSpPr>
          <p:cNvPr id="24" name="TextBox 23"/>
          <p:cNvSpPr txBox="1"/>
          <p:nvPr/>
        </p:nvSpPr>
        <p:spPr>
          <a:xfrm>
            <a:off x="1737360" y="5486399"/>
            <a:ext cx="9601200" cy="640080"/>
          </a:xfrm>
          <a:prstGeom prst="rect">
            <a:avLst/>
          </a:prstGeom>
          <a:noFill/>
        </p:spPr>
        <p:txBody>
          <a:bodyPr wrap="square">
            <a:spAutoFit/>
          </a:bodyPr>
          <a:lstStyle/>
          <a:p>
            <a:pPr>
              <a:defRPr sz="1700">
                <a:solidFill>
                  <a:srgbClr val="323741"/>
                </a:solidFill>
              </a:defRPr>
            </a:pPr>
            <a:r>
              <a:t>Focus on boosting conversion rates through targeted ads and offers.</a:t>
            </a:r>
          </a:p>
        </p:txBody>
      </p:sp>
      <p:sp>
        <p:nvSpPr>
          <p:cNvPr id="25" name="TextBox 24"/>
          <p:cNvSpPr txBox="1"/>
          <p:nvPr/>
        </p:nvSpPr>
        <p:spPr>
          <a:xfrm>
            <a:off x="548640" y="6400800"/>
            <a:ext cx="10972800" cy="365760"/>
          </a:xfrm>
          <a:prstGeom prst="rect">
            <a:avLst/>
          </a:prstGeom>
          <a:noFill/>
        </p:spPr>
        <p:txBody>
          <a:bodyPr wrap="none">
            <a:spAutoFit/>
          </a:bodyPr>
          <a:lstStyle/>
          <a:p>
            <a:pPr>
              <a:defRPr sz="1100" i="1">
                <a:solidFill>
                  <a:srgbClr val="828791"/>
                </a:solidFill>
              </a:defRPr>
            </a:pPr>
            <a:r>
              <a:t>Recommendations generated by AI based on data patterns. Review and adapt to your business context.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