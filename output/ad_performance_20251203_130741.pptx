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1828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Ad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4C8DC"/>
                </a:solidFill>
              </a:defRPr>
            </a:pPr>
            <a:r>
              <a:t>Performance Analytics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CA0B4"/>
                </a:solidFill>
              </a:defRPr>
            </a:pPr>
            <a:r>
              <a:t>2025-11-01  |  2025-11-14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3291840" cy="1645920"/>
          </a:xfrm>
          <a:prstGeom prst="round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389120"/>
            <a:ext cx="329184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6AABE"/>
                </a:solidFill>
              </a:defRPr>
            </a:pPr>
            <a: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$382,250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389120"/>
            <a:ext cx="3291840" cy="1645920"/>
          </a:xfrm>
          <a:prstGeom prst="round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4389120"/>
            <a:ext cx="329184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6634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6AABE"/>
                </a:solidFill>
              </a:defRPr>
            </a:pPr>
            <a:r>
              <a:t>RETURN ON INVESTMENT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12064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97.0%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389120"/>
            <a:ext cx="3291840" cy="1645920"/>
          </a:xfrm>
          <a:prstGeom prst="round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4389120"/>
            <a:ext cx="329184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6634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6AABE"/>
                </a:solidFill>
              </a:defRPr>
            </a:pPr>
            <a:r>
              <a:t>TOTAL IMPRESSIONS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12064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10,203,000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88C"/>
                </a:solidFill>
              </a:defRPr>
            </a:pPr>
            <a:r>
              <a:t>Generated: December 03, 2025  |  Powered by TrendSpotter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91440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973"/>
                </a:solidFill>
              </a:defRPr>
            </a:pPr>
            <a:r>
              <a:t>IMPRESSIONS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23741"/>
                </a:solidFill>
              </a:defRPr>
            </a:pPr>
            <a:r>
              <a:t>10,203,000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D87"/>
                </a:solidFill>
              </a:defRPr>
            </a:pPr>
            <a:r>
              <a:t>Total ad views delivered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46304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463040"/>
            <a:ext cx="91440" cy="201168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973"/>
                </a:solidFill>
              </a:defRPr>
            </a:pPr>
            <a:r>
              <a:t>CLICKS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19456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23741"/>
                </a:solidFill>
              </a:defRPr>
            </a:pPr>
            <a:r>
              <a:t>306,090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D87"/>
                </a:solidFill>
              </a:defRPr>
            </a:pPr>
            <a:r>
              <a:t>Click-through rate: 3.00%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46304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463040"/>
            <a:ext cx="91440" cy="20116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973"/>
                </a:solidFill>
              </a:defRPr>
            </a:pPr>
            <a:r>
              <a:t>CONVERSIONS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19456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23741"/>
                </a:solidFill>
              </a:defRPr>
            </a:pPr>
            <a:r>
              <a:t>15,290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0175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D87"/>
                </a:solidFill>
              </a:defRPr>
            </a:pPr>
            <a:r>
              <a:t>Completed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048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91440" cy="20116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14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973"/>
                </a:solidFill>
              </a:defRPr>
            </a:pPr>
            <a:r>
              <a:t>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23741"/>
                </a:solidFill>
              </a:defRPr>
            </a:pPr>
            <a:r>
              <a:t>$382,250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D87"/>
                </a:solidFill>
              </a:defRPr>
            </a:pPr>
            <a:r>
              <a:t>Total earnings generated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384048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79" y="3840480"/>
            <a:ext cx="91440" cy="20116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1999" y="4114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973"/>
                </a:solidFill>
              </a:defRPr>
            </a:pPr>
            <a:r>
              <a:t>AD SPEND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457200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23741"/>
                </a:solidFill>
              </a:defRPr>
            </a:pPr>
            <a:r>
              <a:t>$194,070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9" y="5394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D87"/>
                </a:solidFill>
              </a:defRPr>
            </a:pPr>
            <a:r>
              <a:t>Marketing investment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384048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19" y="3840480"/>
            <a:ext cx="91440" cy="20116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39" y="4114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973"/>
                </a:solidFill>
              </a:defRPr>
            </a:pPr>
            <a:r>
              <a:t>ROI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457200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23741"/>
                </a:solidFill>
              </a:defRPr>
            </a:pPr>
            <a:r>
              <a:t>97.0%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5394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D87"/>
                </a:solidFill>
              </a:defRPr>
            </a:pPr>
            <a:r>
              <a:t>Return on investment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035040"/>
            <a:ext cx="11064240" cy="640080"/>
          </a:xfrm>
          <a:prstGeom prst="roundRect">
            <a:avLst/>
          </a:prstGeom>
          <a:solidFill>
            <a:srgbClr val="E6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850"/>
                </a:solidFill>
              </a:defRPr>
            </a:pPr>
            <a:r>
              <a:t>KEY INSIGHT: Tech_Gadgets leads with $98,875 revenue and 80% 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011680" cy="365760"/>
          </a:xfrm>
          <a:prstGeom prst="roundRect">
            <a:avLst/>
          </a:prstGeom>
          <a:solidFill>
            <a:srgbClr val="E6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850"/>
                </a:solidFill>
              </a:defRPr>
            </a:pPr>
            <a:r>
              <a:t>AI-Generated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2560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>
                <a:solidFill>
                  <a:srgbClr val="323741"/>
                </a:solidFill>
              </a:defRPr>
            </a:pPr>
            <a:r>
              <a:t>During the analysis period from November 1 to November 14, 2025, the campaigns generated 10,203,000 impressions, resulting in 306,090 clicks and 15,290 conversions. The total revenue reached $382,250 against a spend of $194,070, yielding an impressive ROI of 97%. The top-performing campaigns were Tech_Gadgets and Holiday_Promo, generating $98,875 and $88,075 respectively. Noteworthy anomalies (7) were identified, indicating potential areas for optimization. Continuous monitoring and adjustments can capitalize on high-performing segments while addressing discrepancies. Overall, the data reflects strong engagement and profitability, affirming robust marketing strategies during this critical promotional period.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11064240" cy="4572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ANOMALIES DETECTED: 7 unusual patterns identified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4646"/>
                </a:solidFill>
              </a:defRPr>
            </a:pPr>
            <a:r>
              <a:t>  -  Tech_Gadgets - unusual metrics on 2025-11-03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4646"/>
                </a:solidFill>
              </a:defRPr>
            </a:pPr>
            <a:r>
              <a:t>  -  Tech_Gadgets - unusual metrics on 2025-11-04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4646"/>
                </a:solidFill>
              </a:defRPr>
            </a:pPr>
            <a:r>
              <a:t>  -  Winter_Collection - unusual metrics on 2025-11-07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Dashboard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75687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Campaign Performance</a:t>
            </a:r>
          </a:p>
        </p:txBody>
      </p:sp>
      <p:pic>
        <p:nvPicPr>
          <p:cNvPr id="5" name="Picture 4" descr="campaign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71328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1051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91440" cy="10515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00200"/>
            <a:ext cx="594360" cy="5943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459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741"/>
                </a:solidFill>
              </a:defRPr>
            </a:pPr>
            <a:r>
              <a:t>Optimize ad creatives for higher click-through 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11064240" cy="1051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91440" cy="10515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880360"/>
            <a:ext cx="594360" cy="5943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926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741"/>
                </a:solidFill>
              </a:defRPr>
            </a:pPr>
            <a:r>
              <a:t>Focus budget on top-performing campaigns for better ROI.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1064240" cy="1051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91440" cy="105156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160520"/>
            <a:ext cx="594360" cy="594360"/>
          </a:xfrm>
          <a:prstGeom prst="ellipse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2062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741"/>
                </a:solidFill>
              </a:defRPr>
            </a:pPr>
            <a:r>
              <a:t>Investigate anomalies for potential strategy adjustments.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12079"/>
            <a:ext cx="11064240" cy="1051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12079"/>
            <a:ext cx="91440" cy="10515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5440679"/>
            <a:ext cx="594360" cy="5943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04687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48639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23741"/>
                </a:solidFill>
              </a:defRPr>
            </a:pPr>
            <a:r>
              <a:t>Consider increasing spend on high-converting segments.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28791"/>
                </a:solidFill>
              </a:defRPr>
            </a:pPr>
            <a:r>
              <a:t>Recommendations generated by AI based on data patterns. Review and adapt to your business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